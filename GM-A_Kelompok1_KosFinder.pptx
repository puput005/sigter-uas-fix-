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Open Sans 1 Bold" charset="1" panose="00000000000000000000"/>
      <p:regular r:id="rId18"/>
    </p:embeddedFont>
    <p:embeddedFont>
      <p:font typeface="Open Sans 1" charset="1" panose="00000000000000000000"/>
      <p:regular r:id="rId19"/>
    </p:embeddedFont>
    <p:embeddedFont>
      <p:font typeface="Open Sans 1 Italics"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 Id="rId5" Target="../media/image6.jpeg" Type="http://schemas.openxmlformats.org/officeDocument/2006/relationships/image"/><Relationship Id="rId6"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3.png" Type="http://schemas.openxmlformats.org/officeDocument/2006/relationships/image"/><Relationship Id="rId4"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13" Target="../media/image18.png" Type="http://schemas.openxmlformats.org/officeDocument/2006/relationships/image"/><Relationship Id="rId14" Target="../media/image19.svg" Type="http://schemas.openxmlformats.org/officeDocument/2006/relationships/image"/><Relationship Id="rId2" Target="../media/image4.jpeg" Type="http://schemas.openxmlformats.org/officeDocument/2006/relationships/image"/><Relationship Id="rId3" Target="../media/image3.pn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3.png" Type="http://schemas.openxmlformats.org/officeDocument/2006/relationships/image"/><Relationship Id="rId4" Target="../media/image20.png" Type="http://schemas.openxmlformats.org/officeDocument/2006/relationships/image"/><Relationship Id="rId5" Target="../embeddings/oleObject1.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74" r="0" b="-74"/>
              </a:stretch>
            </a:blipFill>
          </p:spPr>
        </p:sp>
      </p:grpSp>
      <p:grpSp>
        <p:nvGrpSpPr>
          <p:cNvPr name="Group 4" id="4"/>
          <p:cNvGrpSpPr/>
          <p:nvPr/>
        </p:nvGrpSpPr>
        <p:grpSpPr>
          <a:xfrm rot="0">
            <a:off x="6512919" y="810017"/>
            <a:ext cx="3636346" cy="780536"/>
            <a:chOff x="0" y="0"/>
            <a:chExt cx="5973037" cy="1282103"/>
          </a:xfrm>
        </p:grpSpPr>
        <p:sp>
          <p:nvSpPr>
            <p:cNvPr name="Freeform 5" id="5"/>
            <p:cNvSpPr/>
            <p:nvPr/>
          </p:nvSpPr>
          <p:spPr>
            <a:xfrm flipH="false" flipV="false" rot="0">
              <a:off x="0" y="0"/>
              <a:ext cx="5973064" cy="1282065"/>
            </a:xfrm>
            <a:custGeom>
              <a:avLst/>
              <a:gdLst/>
              <a:ahLst/>
              <a:cxnLst/>
              <a:rect r="r" b="b" t="t" l="l"/>
              <a:pathLst>
                <a:path h="1282065" w="5973064">
                  <a:moveTo>
                    <a:pt x="0" y="0"/>
                  </a:moveTo>
                  <a:lnTo>
                    <a:pt x="5973064" y="0"/>
                  </a:lnTo>
                  <a:lnTo>
                    <a:pt x="5973064" y="1282065"/>
                  </a:lnTo>
                  <a:lnTo>
                    <a:pt x="0" y="1282065"/>
                  </a:lnTo>
                  <a:lnTo>
                    <a:pt x="0" y="0"/>
                  </a:lnTo>
                  <a:close/>
                </a:path>
              </a:pathLst>
            </a:custGeom>
            <a:blipFill>
              <a:blip r:embed="rId3"/>
              <a:stretch>
                <a:fillRect l="-36" t="0" r="-35" b="-2"/>
              </a:stretch>
            </a:blipFill>
          </p:spPr>
        </p:sp>
      </p:grpSp>
      <p:grpSp>
        <p:nvGrpSpPr>
          <p:cNvPr name="Group 6" id="6"/>
          <p:cNvGrpSpPr/>
          <p:nvPr/>
        </p:nvGrpSpPr>
        <p:grpSpPr>
          <a:xfrm rot="0">
            <a:off x="5592912" y="776286"/>
            <a:ext cx="608664" cy="814267"/>
            <a:chOff x="0" y="0"/>
            <a:chExt cx="1027807" cy="1374993"/>
          </a:xfrm>
        </p:grpSpPr>
        <p:sp>
          <p:nvSpPr>
            <p:cNvPr name="Freeform 7" id="7"/>
            <p:cNvSpPr/>
            <p:nvPr/>
          </p:nvSpPr>
          <p:spPr>
            <a:xfrm flipH="false" flipV="false" rot="0">
              <a:off x="0" y="0"/>
              <a:ext cx="1027811" cy="1375029"/>
            </a:xfrm>
            <a:custGeom>
              <a:avLst/>
              <a:gdLst/>
              <a:ahLst/>
              <a:cxnLst/>
              <a:rect r="r" b="b" t="t" l="l"/>
              <a:pathLst>
                <a:path h="1375029" w="1027811">
                  <a:moveTo>
                    <a:pt x="0" y="0"/>
                  </a:moveTo>
                  <a:lnTo>
                    <a:pt x="1027811" y="0"/>
                  </a:lnTo>
                  <a:lnTo>
                    <a:pt x="1027811" y="1375029"/>
                  </a:lnTo>
                  <a:lnTo>
                    <a:pt x="0" y="1375029"/>
                  </a:lnTo>
                  <a:lnTo>
                    <a:pt x="0" y="0"/>
                  </a:lnTo>
                  <a:close/>
                </a:path>
              </a:pathLst>
            </a:custGeom>
            <a:blipFill>
              <a:blip r:embed="rId4"/>
              <a:stretch>
                <a:fillRect l="0" t="0" r="0" b="2"/>
              </a:stretch>
            </a:blipFill>
          </p:spPr>
        </p:sp>
      </p:grpSp>
      <p:sp>
        <p:nvSpPr>
          <p:cNvPr name="TextBox 8" id="8"/>
          <p:cNvSpPr txBox="true"/>
          <p:nvPr/>
        </p:nvSpPr>
        <p:spPr>
          <a:xfrm rot="0">
            <a:off x="2983426" y="652461"/>
            <a:ext cx="2609486" cy="913827"/>
          </a:xfrm>
          <a:prstGeom prst="rect">
            <a:avLst/>
          </a:prstGeom>
        </p:spPr>
        <p:txBody>
          <a:bodyPr anchor="t" rtlCol="false" tIns="0" lIns="0" bIns="0" rIns="0">
            <a:spAutoFit/>
          </a:bodyPr>
          <a:lstStyle/>
          <a:p>
            <a:pPr algn="l">
              <a:lnSpc>
                <a:spcPts val="7515"/>
              </a:lnSpc>
            </a:pPr>
            <a:r>
              <a:rPr lang="en-US" b="true" sz="5219">
                <a:solidFill>
                  <a:srgbClr val="EF7F1D"/>
                </a:solidFill>
                <a:latin typeface="Open Sans 1 Bold"/>
                <a:ea typeface="Open Sans 1 Bold"/>
                <a:cs typeface="Open Sans 1 Bold"/>
                <a:sym typeface="Open Sans 1 Bold"/>
              </a:rPr>
              <a:t>HELLO, </a:t>
            </a:r>
          </a:p>
        </p:txBody>
      </p:sp>
      <p:sp>
        <p:nvSpPr>
          <p:cNvPr name="TextBox 9" id="9"/>
          <p:cNvSpPr txBox="true"/>
          <p:nvPr/>
        </p:nvSpPr>
        <p:spPr>
          <a:xfrm rot="0">
            <a:off x="11983700" y="7421564"/>
            <a:ext cx="6072325" cy="1832211"/>
          </a:xfrm>
          <a:prstGeom prst="rect">
            <a:avLst/>
          </a:prstGeom>
        </p:spPr>
        <p:txBody>
          <a:bodyPr anchor="t" rtlCol="false" tIns="0" lIns="0" bIns="0" rIns="0">
            <a:spAutoFit/>
          </a:bodyPr>
          <a:lstStyle/>
          <a:p>
            <a:pPr algn="ctr">
              <a:lnSpc>
                <a:spcPts val="2988"/>
              </a:lnSpc>
            </a:pPr>
            <a:r>
              <a:rPr lang="en-US" b="true" sz="2075">
                <a:solidFill>
                  <a:srgbClr val="06656B"/>
                </a:solidFill>
                <a:latin typeface="Open Sans 1 Bold"/>
                <a:ea typeface="Open Sans 1 Bold"/>
                <a:cs typeface="Open Sans 1 Bold"/>
                <a:sym typeface="Open Sans 1 Bold"/>
              </a:rPr>
              <a:t>S-1 TEKNIK GEOMATIKA</a:t>
            </a:r>
          </a:p>
          <a:p>
            <a:pPr algn="ctr">
              <a:lnSpc>
                <a:spcPts val="2988"/>
              </a:lnSpc>
            </a:pPr>
            <a:r>
              <a:rPr lang="en-US" b="true" sz="2075">
                <a:solidFill>
                  <a:srgbClr val="06656B"/>
                </a:solidFill>
                <a:latin typeface="Open Sans 1 Bold"/>
                <a:ea typeface="Open Sans 1 Bold"/>
                <a:cs typeface="Open Sans 1 Bold"/>
                <a:sym typeface="Open Sans 1 Bold"/>
              </a:rPr>
              <a:t>JURUSAN TEKNIK GEOLOGI</a:t>
            </a:r>
          </a:p>
          <a:p>
            <a:pPr algn="ctr">
              <a:lnSpc>
                <a:spcPts val="2988"/>
              </a:lnSpc>
            </a:pPr>
            <a:r>
              <a:rPr lang="en-US" b="true" sz="2075">
                <a:solidFill>
                  <a:srgbClr val="06656B"/>
                </a:solidFill>
                <a:latin typeface="Open Sans 1 Bold"/>
                <a:ea typeface="Open Sans 1 Bold"/>
                <a:cs typeface="Open Sans 1 Bold"/>
                <a:sym typeface="Open Sans 1 Bold"/>
              </a:rPr>
              <a:t>FAKULTAS TEKNOLOGI MINERAL DAN ENERGI</a:t>
            </a:r>
          </a:p>
          <a:p>
            <a:pPr algn="ctr">
              <a:lnSpc>
                <a:spcPts val="2988"/>
              </a:lnSpc>
            </a:pPr>
            <a:r>
              <a:rPr lang="en-US" b="true" sz="2075">
                <a:solidFill>
                  <a:srgbClr val="06656B"/>
                </a:solidFill>
                <a:latin typeface="Open Sans 1 Bold"/>
                <a:ea typeface="Open Sans 1 Bold"/>
                <a:cs typeface="Open Sans 1 Bold"/>
                <a:sym typeface="Open Sans 1 Bold"/>
              </a:rPr>
              <a:t>UPN “VETERAN” YOGYAKARTA</a:t>
            </a:r>
          </a:p>
          <a:p>
            <a:pPr algn="ctr">
              <a:lnSpc>
                <a:spcPts val="2988"/>
              </a:lnSpc>
            </a:pPr>
            <a:r>
              <a:rPr lang="en-US" b="true" sz="2075">
                <a:solidFill>
                  <a:srgbClr val="06656B"/>
                </a:solidFill>
                <a:latin typeface="Open Sans 1 Bold"/>
                <a:ea typeface="Open Sans 1 Bold"/>
                <a:cs typeface="Open Sans 1 Bold"/>
                <a:sym typeface="Open Sans 1 Bold"/>
              </a:rPr>
              <a:t>2026</a:t>
            </a:r>
          </a:p>
        </p:txBody>
      </p:sp>
      <p:sp>
        <p:nvSpPr>
          <p:cNvPr name="TextBox 10" id="10"/>
          <p:cNvSpPr txBox="true"/>
          <p:nvPr/>
        </p:nvSpPr>
        <p:spPr>
          <a:xfrm rot="0">
            <a:off x="7851147" y="2560654"/>
            <a:ext cx="10061540" cy="2854519"/>
          </a:xfrm>
          <a:prstGeom prst="rect">
            <a:avLst/>
          </a:prstGeom>
        </p:spPr>
        <p:txBody>
          <a:bodyPr anchor="t" rtlCol="false" tIns="0" lIns="0" bIns="0" rIns="0">
            <a:spAutoFit/>
          </a:bodyPr>
          <a:lstStyle/>
          <a:p>
            <a:pPr algn="r">
              <a:lnSpc>
                <a:spcPts val="7626"/>
              </a:lnSpc>
            </a:pPr>
            <a:r>
              <a:rPr lang="en-US" b="true" sz="5295">
                <a:solidFill>
                  <a:srgbClr val="EF7F1D"/>
                </a:solidFill>
                <a:latin typeface="Open Sans 1 Bold"/>
                <a:ea typeface="Open Sans 1 Bold"/>
                <a:cs typeface="Open Sans 1 Bold"/>
                <a:sym typeface="Open Sans 1 Bold"/>
              </a:rPr>
              <a:t>KosFinder: Web GIS Untuk Menjelajahi Persebaran Hunian Mahasiswa</a:t>
            </a:r>
          </a:p>
        </p:txBody>
      </p:sp>
      <p:sp>
        <p:nvSpPr>
          <p:cNvPr name="TextBox 11" id="11"/>
          <p:cNvSpPr txBox="true"/>
          <p:nvPr/>
        </p:nvSpPr>
        <p:spPr>
          <a:xfrm rot="0">
            <a:off x="13490336" y="6438705"/>
            <a:ext cx="3059052" cy="623698"/>
          </a:xfrm>
          <a:prstGeom prst="rect">
            <a:avLst/>
          </a:prstGeom>
        </p:spPr>
        <p:txBody>
          <a:bodyPr anchor="t" rtlCol="false" tIns="0" lIns="0" bIns="0" rIns="0">
            <a:spAutoFit/>
          </a:bodyPr>
          <a:lstStyle/>
          <a:p>
            <a:pPr algn="r">
              <a:lnSpc>
                <a:spcPts val="5183"/>
              </a:lnSpc>
            </a:pPr>
            <a:r>
              <a:rPr lang="en-US" b="true" sz="3599">
                <a:solidFill>
                  <a:srgbClr val="EF7F1D"/>
                </a:solidFill>
                <a:latin typeface="Open Sans 1 Bold"/>
                <a:ea typeface="Open Sans 1 Bold"/>
                <a:cs typeface="Open Sans 1 Bold"/>
                <a:sym typeface="Open Sans 1 Bold"/>
              </a:rPr>
              <a:t>KELOMPOK 1</a:t>
            </a:r>
          </a:p>
        </p:txBody>
      </p:sp>
      <p:sp>
        <p:nvSpPr>
          <p:cNvPr name="TextBox 12" id="12"/>
          <p:cNvSpPr txBox="true"/>
          <p:nvPr/>
        </p:nvSpPr>
        <p:spPr>
          <a:xfrm rot="0">
            <a:off x="9695218" y="5689019"/>
            <a:ext cx="8360807" cy="428626"/>
          </a:xfrm>
          <a:prstGeom prst="rect">
            <a:avLst/>
          </a:prstGeom>
        </p:spPr>
        <p:txBody>
          <a:bodyPr anchor="t" rtlCol="false" tIns="0" lIns="0" bIns="0" rIns="0">
            <a:spAutoFit/>
          </a:bodyPr>
          <a:lstStyle/>
          <a:p>
            <a:pPr algn="ctr">
              <a:lnSpc>
                <a:spcPts val="3599"/>
              </a:lnSpc>
              <a:spcBef>
                <a:spcPct val="0"/>
              </a:spcBef>
            </a:pPr>
            <a:r>
              <a:rPr lang="en-US" b="true" sz="2499">
                <a:solidFill>
                  <a:srgbClr val="000000"/>
                </a:solidFill>
                <a:latin typeface="Open Sans 1 Bold"/>
                <a:ea typeface="Open Sans 1 Bold"/>
                <a:cs typeface="Open Sans 1 Bold"/>
                <a:sym typeface="Open Sans 1 Bold"/>
              </a:rPr>
              <a:t>PRAKTIKUM SISTEM INFORMASI GEOGRAFIS TERAPAN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74" r="0" b="-74"/>
              </a:stretch>
            </a:blipFill>
          </p:spPr>
        </p:sp>
      </p:grpSp>
      <p:grpSp>
        <p:nvGrpSpPr>
          <p:cNvPr name="Group 4" id="4"/>
          <p:cNvGrpSpPr/>
          <p:nvPr/>
        </p:nvGrpSpPr>
        <p:grpSpPr>
          <a:xfrm rot="0">
            <a:off x="15977448" y="736370"/>
            <a:ext cx="770855" cy="1031245"/>
            <a:chOff x="0" y="0"/>
            <a:chExt cx="1027807" cy="1374993"/>
          </a:xfrm>
        </p:grpSpPr>
        <p:sp>
          <p:nvSpPr>
            <p:cNvPr name="Freeform 5" id="5"/>
            <p:cNvSpPr/>
            <p:nvPr/>
          </p:nvSpPr>
          <p:spPr>
            <a:xfrm flipH="false" flipV="false" rot="0">
              <a:off x="0" y="0"/>
              <a:ext cx="1027811" cy="1375029"/>
            </a:xfrm>
            <a:custGeom>
              <a:avLst/>
              <a:gdLst/>
              <a:ahLst/>
              <a:cxnLst/>
              <a:rect r="r" b="b" t="t" l="l"/>
              <a:pathLst>
                <a:path h="1375029" w="1027811">
                  <a:moveTo>
                    <a:pt x="0" y="0"/>
                  </a:moveTo>
                  <a:lnTo>
                    <a:pt x="1027811" y="0"/>
                  </a:lnTo>
                  <a:lnTo>
                    <a:pt x="1027811" y="1375029"/>
                  </a:lnTo>
                  <a:lnTo>
                    <a:pt x="0" y="1375029"/>
                  </a:lnTo>
                  <a:lnTo>
                    <a:pt x="0" y="0"/>
                  </a:lnTo>
                  <a:close/>
                </a:path>
              </a:pathLst>
            </a:custGeom>
            <a:blipFill>
              <a:blip r:embed="rId3"/>
              <a:stretch>
                <a:fillRect l="0" t="0" r="0" b="2"/>
              </a:stretch>
            </a:blipFill>
          </p:spPr>
        </p:sp>
      </p:grpSp>
      <p:sp>
        <p:nvSpPr>
          <p:cNvPr name="TextBox 6" id="6"/>
          <p:cNvSpPr txBox="true"/>
          <p:nvPr/>
        </p:nvSpPr>
        <p:spPr>
          <a:xfrm rot="0">
            <a:off x="817245" y="6406676"/>
            <a:ext cx="6074226" cy="964215"/>
          </a:xfrm>
          <a:prstGeom prst="rect">
            <a:avLst/>
          </a:prstGeom>
        </p:spPr>
        <p:txBody>
          <a:bodyPr anchor="t" rtlCol="false" tIns="0" lIns="0" bIns="0" rIns="0">
            <a:spAutoFit/>
          </a:bodyPr>
          <a:lstStyle/>
          <a:p>
            <a:pPr algn="ctr">
              <a:lnSpc>
                <a:spcPts val="3946"/>
              </a:lnSpc>
            </a:pPr>
            <a:r>
              <a:rPr lang="en-US" sz="2740" b="true">
                <a:solidFill>
                  <a:srgbClr val="06656B"/>
                </a:solidFill>
                <a:latin typeface="Open Sans 1 Bold"/>
                <a:ea typeface="Open Sans 1 Bold"/>
                <a:cs typeface="Open Sans 1 Bold"/>
                <a:sym typeface="Open Sans 1 Bold"/>
              </a:rPr>
              <a:t>Fahru Handian </a:t>
            </a:r>
          </a:p>
          <a:p>
            <a:pPr algn="ctr">
              <a:lnSpc>
                <a:spcPts val="3946"/>
              </a:lnSpc>
            </a:pPr>
            <a:r>
              <a:rPr lang="en-US" sz="2740" b="true">
                <a:solidFill>
                  <a:srgbClr val="06656B"/>
                </a:solidFill>
                <a:latin typeface="Open Sans 1 Bold"/>
                <a:ea typeface="Open Sans 1 Bold"/>
                <a:cs typeface="Open Sans 1 Bold"/>
                <a:sym typeface="Open Sans 1 Bold"/>
              </a:rPr>
              <a:t>(117230005)</a:t>
            </a:r>
          </a:p>
        </p:txBody>
      </p:sp>
      <p:sp>
        <p:nvSpPr>
          <p:cNvPr name="TextBox 7" id="7"/>
          <p:cNvSpPr txBox="true"/>
          <p:nvPr/>
        </p:nvSpPr>
        <p:spPr>
          <a:xfrm rot="0">
            <a:off x="6424476" y="6406676"/>
            <a:ext cx="6074226" cy="964215"/>
          </a:xfrm>
          <a:prstGeom prst="rect">
            <a:avLst/>
          </a:prstGeom>
        </p:spPr>
        <p:txBody>
          <a:bodyPr anchor="t" rtlCol="false" tIns="0" lIns="0" bIns="0" rIns="0">
            <a:spAutoFit/>
          </a:bodyPr>
          <a:lstStyle/>
          <a:p>
            <a:pPr algn="ctr">
              <a:lnSpc>
                <a:spcPts val="3946"/>
              </a:lnSpc>
            </a:pPr>
            <a:r>
              <a:rPr lang="en-US" sz="2740" b="true">
                <a:solidFill>
                  <a:srgbClr val="06656B"/>
                </a:solidFill>
                <a:latin typeface="Open Sans 1 Bold"/>
                <a:ea typeface="Open Sans 1 Bold"/>
                <a:cs typeface="Open Sans 1 Bold"/>
                <a:sym typeface="Open Sans 1 Bold"/>
              </a:rPr>
              <a:t>Silfia Rahayu </a:t>
            </a:r>
          </a:p>
          <a:p>
            <a:pPr algn="ctr">
              <a:lnSpc>
                <a:spcPts val="3946"/>
              </a:lnSpc>
            </a:pPr>
            <a:r>
              <a:rPr lang="en-US" sz="2740" b="true">
                <a:solidFill>
                  <a:srgbClr val="06656B"/>
                </a:solidFill>
                <a:latin typeface="Open Sans 1 Bold"/>
                <a:ea typeface="Open Sans 1 Bold"/>
                <a:cs typeface="Open Sans 1 Bold"/>
                <a:sym typeface="Open Sans 1 Bold"/>
              </a:rPr>
              <a:t>(117230010)</a:t>
            </a:r>
          </a:p>
        </p:txBody>
      </p:sp>
      <p:sp>
        <p:nvSpPr>
          <p:cNvPr name="TextBox 8" id="8"/>
          <p:cNvSpPr txBox="true"/>
          <p:nvPr/>
        </p:nvSpPr>
        <p:spPr>
          <a:xfrm rot="0">
            <a:off x="12213774" y="6406676"/>
            <a:ext cx="6074226" cy="964215"/>
          </a:xfrm>
          <a:prstGeom prst="rect">
            <a:avLst/>
          </a:prstGeom>
        </p:spPr>
        <p:txBody>
          <a:bodyPr anchor="t" rtlCol="false" tIns="0" lIns="0" bIns="0" rIns="0">
            <a:spAutoFit/>
          </a:bodyPr>
          <a:lstStyle/>
          <a:p>
            <a:pPr algn="ctr">
              <a:lnSpc>
                <a:spcPts val="3946"/>
              </a:lnSpc>
            </a:pPr>
            <a:r>
              <a:rPr lang="en-US" sz="2740" b="true">
                <a:solidFill>
                  <a:srgbClr val="06656B"/>
                </a:solidFill>
                <a:latin typeface="Open Sans 1 Bold"/>
                <a:ea typeface="Open Sans 1 Bold"/>
                <a:cs typeface="Open Sans 1 Bold"/>
                <a:sym typeface="Open Sans 1 Bold"/>
              </a:rPr>
              <a:t>Ni Putu Atmelia Putri</a:t>
            </a:r>
          </a:p>
          <a:p>
            <a:pPr algn="ctr">
              <a:lnSpc>
                <a:spcPts val="3946"/>
              </a:lnSpc>
            </a:pPr>
            <a:r>
              <a:rPr lang="en-US" sz="2740" b="true">
                <a:solidFill>
                  <a:srgbClr val="06656B"/>
                </a:solidFill>
                <a:latin typeface="Open Sans 1 Bold"/>
                <a:ea typeface="Open Sans 1 Bold"/>
                <a:cs typeface="Open Sans 1 Bold"/>
                <a:sym typeface="Open Sans 1 Bold"/>
              </a:rPr>
              <a:t>(117230019)</a:t>
            </a:r>
          </a:p>
        </p:txBody>
      </p:sp>
      <p:grpSp>
        <p:nvGrpSpPr>
          <p:cNvPr name="Group 9" id="9"/>
          <p:cNvGrpSpPr/>
          <p:nvPr/>
        </p:nvGrpSpPr>
        <p:grpSpPr>
          <a:xfrm rot="0">
            <a:off x="2215598" y="3368089"/>
            <a:ext cx="3277521" cy="3277521"/>
            <a:chOff x="0" y="0"/>
            <a:chExt cx="6350000" cy="6350000"/>
          </a:xfrm>
        </p:grpSpPr>
        <p:sp>
          <p:nvSpPr>
            <p:cNvPr name="Freeform 10" id="10"/>
            <p:cNvSpPr/>
            <p:nvPr/>
          </p:nvSpPr>
          <p:spPr>
            <a:xfrm flipH="false" flipV="false" rot="0">
              <a:off x="541020" y="537210"/>
              <a:ext cx="5255260" cy="5255260"/>
            </a:xfrm>
            <a:custGeom>
              <a:avLst/>
              <a:gdLst/>
              <a:ahLst/>
              <a:cxnLst/>
              <a:rect r="r" b="b" t="t" l="l"/>
              <a:pathLst>
                <a:path h="5255260" w="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4"/>
              <a:stretch>
                <a:fillRect l="0" t="-3547" r="0" b="-3547"/>
              </a:stretch>
            </a:blipFill>
          </p:spPr>
        </p:sp>
      </p:grpSp>
      <p:grpSp>
        <p:nvGrpSpPr>
          <p:cNvPr name="Group 11" id="11"/>
          <p:cNvGrpSpPr/>
          <p:nvPr/>
        </p:nvGrpSpPr>
        <p:grpSpPr>
          <a:xfrm rot="0">
            <a:off x="13612126" y="3246461"/>
            <a:ext cx="3277521" cy="3277521"/>
            <a:chOff x="0" y="0"/>
            <a:chExt cx="6350000" cy="6350000"/>
          </a:xfrm>
        </p:grpSpPr>
        <p:sp>
          <p:nvSpPr>
            <p:cNvPr name="Freeform 12" id="12"/>
            <p:cNvSpPr/>
            <p:nvPr/>
          </p:nvSpPr>
          <p:spPr>
            <a:xfrm flipH="false" flipV="false" rot="0">
              <a:off x="541020" y="537210"/>
              <a:ext cx="5255260" cy="5255260"/>
            </a:xfrm>
            <a:custGeom>
              <a:avLst/>
              <a:gdLst/>
              <a:ahLst/>
              <a:cxnLst/>
              <a:rect r="r" b="b" t="t" l="l"/>
              <a:pathLst>
                <a:path h="5255260" w="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5"/>
              <a:stretch>
                <a:fillRect l="-25895" t="-30317" r="-23645" b="-69070"/>
              </a:stretch>
            </a:blipFill>
          </p:spPr>
        </p:sp>
      </p:grpSp>
      <p:grpSp>
        <p:nvGrpSpPr>
          <p:cNvPr name="Group 13" id="13"/>
          <p:cNvGrpSpPr/>
          <p:nvPr/>
        </p:nvGrpSpPr>
        <p:grpSpPr>
          <a:xfrm rot="0">
            <a:off x="7822828" y="3368089"/>
            <a:ext cx="3277521" cy="3277521"/>
            <a:chOff x="0" y="0"/>
            <a:chExt cx="6350000" cy="6350000"/>
          </a:xfrm>
        </p:grpSpPr>
        <p:sp>
          <p:nvSpPr>
            <p:cNvPr name="Freeform 14" id="14"/>
            <p:cNvSpPr/>
            <p:nvPr/>
          </p:nvSpPr>
          <p:spPr>
            <a:xfrm flipH="false" flipV="false" rot="0">
              <a:off x="541020" y="537210"/>
              <a:ext cx="5255260" cy="5255260"/>
            </a:xfrm>
            <a:custGeom>
              <a:avLst/>
              <a:gdLst/>
              <a:ahLst/>
              <a:cxnLst/>
              <a:rect r="r" b="b" t="t" l="l"/>
              <a:pathLst>
                <a:path h="5255260" w="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6"/>
              <a:stretch>
                <a:fillRect l="0" t="-38888" r="0" b="-38888"/>
              </a:stretch>
            </a:blipFill>
          </p:spPr>
        </p:sp>
      </p:grpSp>
      <p:sp>
        <p:nvSpPr>
          <p:cNvPr name="TextBox 15" id="15"/>
          <p:cNvSpPr txBox="true"/>
          <p:nvPr/>
        </p:nvSpPr>
        <p:spPr>
          <a:xfrm rot="0">
            <a:off x="1028700" y="1841512"/>
            <a:ext cx="16230600" cy="1045845"/>
          </a:xfrm>
          <a:prstGeom prst="rect">
            <a:avLst/>
          </a:prstGeom>
        </p:spPr>
        <p:txBody>
          <a:bodyPr anchor="t" rtlCol="false" tIns="0" lIns="0" bIns="0" rIns="0">
            <a:spAutoFit/>
          </a:bodyPr>
          <a:lstStyle/>
          <a:p>
            <a:pPr algn="ctr">
              <a:lnSpc>
                <a:spcPts val="8640"/>
              </a:lnSpc>
              <a:spcBef>
                <a:spcPct val="0"/>
              </a:spcBef>
            </a:pPr>
            <a:r>
              <a:rPr lang="en-US" b="true" sz="6000">
                <a:solidFill>
                  <a:srgbClr val="EF7F1D"/>
                </a:solidFill>
                <a:latin typeface="Open Sans 1 Bold"/>
                <a:ea typeface="Open Sans 1 Bold"/>
                <a:cs typeface="Open Sans 1 Bold"/>
                <a:sym typeface="Open Sans 1 Bold"/>
              </a:rPr>
              <a:t>ANGGOTA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74" r="0" b="-74"/>
              </a:stretch>
            </a:blipFill>
          </p:spPr>
        </p:sp>
      </p:grpSp>
      <p:grpSp>
        <p:nvGrpSpPr>
          <p:cNvPr name="Group 4" id="4"/>
          <p:cNvGrpSpPr/>
          <p:nvPr/>
        </p:nvGrpSpPr>
        <p:grpSpPr>
          <a:xfrm rot="0">
            <a:off x="15977448" y="736370"/>
            <a:ext cx="770855" cy="1031245"/>
            <a:chOff x="0" y="0"/>
            <a:chExt cx="1027807" cy="1374993"/>
          </a:xfrm>
        </p:grpSpPr>
        <p:sp>
          <p:nvSpPr>
            <p:cNvPr name="Freeform 5" id="5"/>
            <p:cNvSpPr/>
            <p:nvPr/>
          </p:nvSpPr>
          <p:spPr>
            <a:xfrm flipH="false" flipV="false" rot="0">
              <a:off x="0" y="0"/>
              <a:ext cx="1027811" cy="1375029"/>
            </a:xfrm>
            <a:custGeom>
              <a:avLst/>
              <a:gdLst/>
              <a:ahLst/>
              <a:cxnLst/>
              <a:rect r="r" b="b" t="t" l="l"/>
              <a:pathLst>
                <a:path h="1375029" w="1027811">
                  <a:moveTo>
                    <a:pt x="0" y="0"/>
                  </a:moveTo>
                  <a:lnTo>
                    <a:pt x="1027811" y="0"/>
                  </a:lnTo>
                  <a:lnTo>
                    <a:pt x="1027811" y="1375029"/>
                  </a:lnTo>
                  <a:lnTo>
                    <a:pt x="0" y="1375029"/>
                  </a:lnTo>
                  <a:lnTo>
                    <a:pt x="0" y="0"/>
                  </a:lnTo>
                  <a:close/>
                </a:path>
              </a:pathLst>
            </a:custGeom>
            <a:blipFill>
              <a:blip r:embed="rId3"/>
              <a:stretch>
                <a:fillRect l="0" t="0" r="0" b="2"/>
              </a:stretch>
            </a:blipFill>
          </p:spPr>
        </p:sp>
      </p:grpSp>
      <p:sp>
        <p:nvSpPr>
          <p:cNvPr name="Freeform 6" id="6"/>
          <p:cNvSpPr/>
          <p:nvPr/>
        </p:nvSpPr>
        <p:spPr>
          <a:xfrm flipH="false" flipV="false" rot="0">
            <a:off x="10572655" y="3717866"/>
            <a:ext cx="7080300" cy="4717250"/>
          </a:xfrm>
          <a:custGeom>
            <a:avLst/>
            <a:gdLst/>
            <a:ahLst/>
            <a:cxnLst/>
            <a:rect r="r" b="b" t="t" l="l"/>
            <a:pathLst>
              <a:path h="4717250" w="7080300">
                <a:moveTo>
                  <a:pt x="0" y="0"/>
                </a:moveTo>
                <a:lnTo>
                  <a:pt x="7080300" y="0"/>
                </a:lnTo>
                <a:lnTo>
                  <a:pt x="7080300" y="4717250"/>
                </a:lnTo>
                <a:lnTo>
                  <a:pt x="0" y="4717250"/>
                </a:lnTo>
                <a:lnTo>
                  <a:pt x="0" y="0"/>
                </a:lnTo>
                <a:close/>
              </a:path>
            </a:pathLst>
          </a:custGeom>
          <a:blipFill>
            <a:blip r:embed="rId4"/>
            <a:stretch>
              <a:fillRect l="0" t="0" r="0" b="0"/>
            </a:stretch>
          </a:blipFill>
        </p:spPr>
      </p:sp>
      <p:sp>
        <p:nvSpPr>
          <p:cNvPr name="TextBox 7" id="7"/>
          <p:cNvSpPr txBox="true"/>
          <p:nvPr/>
        </p:nvSpPr>
        <p:spPr>
          <a:xfrm rot="0">
            <a:off x="1028700" y="1841512"/>
            <a:ext cx="16230600" cy="1045845"/>
          </a:xfrm>
          <a:prstGeom prst="rect">
            <a:avLst/>
          </a:prstGeom>
        </p:spPr>
        <p:txBody>
          <a:bodyPr anchor="t" rtlCol="false" tIns="0" lIns="0" bIns="0" rIns="0">
            <a:spAutoFit/>
          </a:bodyPr>
          <a:lstStyle/>
          <a:p>
            <a:pPr algn="ctr">
              <a:lnSpc>
                <a:spcPts val="8640"/>
              </a:lnSpc>
              <a:spcBef>
                <a:spcPct val="0"/>
              </a:spcBef>
            </a:pPr>
            <a:r>
              <a:rPr lang="en-US" b="true" sz="6000">
                <a:solidFill>
                  <a:srgbClr val="EF7F1D"/>
                </a:solidFill>
                <a:latin typeface="Open Sans 1 Bold"/>
                <a:ea typeface="Open Sans 1 Bold"/>
                <a:cs typeface="Open Sans 1 Bold"/>
                <a:sym typeface="Open Sans 1 Bold"/>
              </a:rPr>
              <a:t>Latar Belakang</a:t>
            </a:r>
          </a:p>
        </p:txBody>
      </p:sp>
      <p:sp>
        <p:nvSpPr>
          <p:cNvPr name="TextBox 8" id="8"/>
          <p:cNvSpPr txBox="true"/>
          <p:nvPr/>
        </p:nvSpPr>
        <p:spPr>
          <a:xfrm rot="0">
            <a:off x="1445060" y="3371391"/>
            <a:ext cx="8539880" cy="5353051"/>
          </a:xfrm>
          <a:prstGeom prst="rect">
            <a:avLst/>
          </a:prstGeom>
        </p:spPr>
        <p:txBody>
          <a:bodyPr anchor="t" rtlCol="false" tIns="0" lIns="0" bIns="0" rIns="0">
            <a:spAutoFit/>
          </a:bodyPr>
          <a:lstStyle/>
          <a:p>
            <a:pPr algn="just">
              <a:lnSpc>
                <a:spcPts val="3599"/>
              </a:lnSpc>
              <a:spcBef>
                <a:spcPct val="0"/>
              </a:spcBef>
            </a:pPr>
            <a:r>
              <a:rPr lang="en-US" sz="2499">
                <a:solidFill>
                  <a:srgbClr val="000000"/>
                </a:solidFill>
                <a:latin typeface="Open Sans 1"/>
                <a:ea typeface="Open Sans 1"/>
                <a:cs typeface="Open Sans 1"/>
                <a:sym typeface="Open Sans 1"/>
              </a:rPr>
              <a:t>Kebutuh</a:t>
            </a:r>
            <a:r>
              <a:rPr lang="en-US" sz="2499">
                <a:solidFill>
                  <a:srgbClr val="000000"/>
                </a:solidFill>
                <a:latin typeface="Open Sans 1"/>
                <a:ea typeface="Open Sans 1"/>
                <a:cs typeface="Open Sans 1"/>
                <a:sym typeface="Open Sans 1"/>
              </a:rPr>
              <a:t>an hunian mahasiswa seperti kos semakin meningkat seiring bertambahnya jumlah mahasiswa. Namun, proses pencarian kos masih kurang efisien karena informasi tersebar di berbagai platform dan tidak terintegrasi. Faktor lokasi menjadi sangat penting karena berkaitan dengan aksesibilitas ke kampus dan fasilitas lainnya. Teknologi Sistem Informasi Geografis (SIG), khususnya WebGIS, memungkinkan visualisasi persebaran hunian secara interaktif dan berbasis lokasi. Oleh karena itu, KosFinder dikembangkan sebagai solusi WebGIS untuk membantu mahasiswa menemukan hunian secara lebih mudah, cepat, dan informatif.</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74" r="0" b="-74"/>
              </a:stretch>
            </a:blipFill>
          </p:spPr>
        </p:sp>
      </p:grpSp>
      <p:grpSp>
        <p:nvGrpSpPr>
          <p:cNvPr name="Group 4" id="4"/>
          <p:cNvGrpSpPr/>
          <p:nvPr/>
        </p:nvGrpSpPr>
        <p:grpSpPr>
          <a:xfrm rot="0">
            <a:off x="15977448" y="736370"/>
            <a:ext cx="770855" cy="1031245"/>
            <a:chOff x="0" y="0"/>
            <a:chExt cx="1027807" cy="1374993"/>
          </a:xfrm>
        </p:grpSpPr>
        <p:sp>
          <p:nvSpPr>
            <p:cNvPr name="Freeform 5" id="5"/>
            <p:cNvSpPr/>
            <p:nvPr/>
          </p:nvSpPr>
          <p:spPr>
            <a:xfrm flipH="false" flipV="false" rot="0">
              <a:off x="0" y="0"/>
              <a:ext cx="1027811" cy="1375029"/>
            </a:xfrm>
            <a:custGeom>
              <a:avLst/>
              <a:gdLst/>
              <a:ahLst/>
              <a:cxnLst/>
              <a:rect r="r" b="b" t="t" l="l"/>
              <a:pathLst>
                <a:path h="1375029" w="1027811">
                  <a:moveTo>
                    <a:pt x="0" y="0"/>
                  </a:moveTo>
                  <a:lnTo>
                    <a:pt x="1027811" y="0"/>
                  </a:lnTo>
                  <a:lnTo>
                    <a:pt x="1027811" y="1375029"/>
                  </a:lnTo>
                  <a:lnTo>
                    <a:pt x="0" y="1375029"/>
                  </a:lnTo>
                  <a:lnTo>
                    <a:pt x="0" y="0"/>
                  </a:lnTo>
                  <a:close/>
                </a:path>
              </a:pathLst>
            </a:custGeom>
            <a:blipFill>
              <a:blip r:embed="rId3"/>
              <a:stretch>
                <a:fillRect l="0" t="0" r="0" b="2"/>
              </a:stretch>
            </a:blipFill>
          </p:spPr>
        </p:sp>
      </p:grpSp>
      <p:sp>
        <p:nvSpPr>
          <p:cNvPr name="TextBox 6" id="6"/>
          <p:cNvSpPr txBox="true"/>
          <p:nvPr/>
        </p:nvSpPr>
        <p:spPr>
          <a:xfrm rot="0">
            <a:off x="1028700" y="1634265"/>
            <a:ext cx="16230600" cy="1045845"/>
          </a:xfrm>
          <a:prstGeom prst="rect">
            <a:avLst/>
          </a:prstGeom>
        </p:spPr>
        <p:txBody>
          <a:bodyPr anchor="t" rtlCol="false" tIns="0" lIns="0" bIns="0" rIns="0">
            <a:spAutoFit/>
          </a:bodyPr>
          <a:lstStyle/>
          <a:p>
            <a:pPr algn="ctr">
              <a:lnSpc>
                <a:spcPts val="8640"/>
              </a:lnSpc>
              <a:spcBef>
                <a:spcPct val="0"/>
              </a:spcBef>
            </a:pPr>
            <a:r>
              <a:rPr lang="en-US" b="true" sz="6000">
                <a:solidFill>
                  <a:srgbClr val="EF7F1D"/>
                </a:solidFill>
                <a:latin typeface="Open Sans 1 Bold"/>
                <a:ea typeface="Open Sans 1 Bold"/>
                <a:cs typeface="Open Sans 1 Bold"/>
                <a:sym typeface="Open Sans 1 Bold"/>
              </a:rPr>
              <a:t>Tujuan</a:t>
            </a:r>
          </a:p>
        </p:txBody>
      </p:sp>
      <p:sp>
        <p:nvSpPr>
          <p:cNvPr name="TextBox 7" id="7"/>
          <p:cNvSpPr txBox="true"/>
          <p:nvPr/>
        </p:nvSpPr>
        <p:spPr>
          <a:xfrm rot="0">
            <a:off x="2456135" y="3069938"/>
            <a:ext cx="13521313" cy="4905376"/>
          </a:xfrm>
          <a:prstGeom prst="rect">
            <a:avLst/>
          </a:prstGeom>
        </p:spPr>
        <p:txBody>
          <a:bodyPr anchor="t" rtlCol="false" tIns="0" lIns="0" bIns="0" rIns="0">
            <a:spAutoFit/>
          </a:bodyPr>
          <a:lstStyle/>
          <a:p>
            <a:pPr algn="ctr">
              <a:lnSpc>
                <a:spcPts val="3599"/>
              </a:lnSpc>
              <a:spcBef>
                <a:spcPct val="0"/>
              </a:spcBef>
            </a:pPr>
            <a:r>
              <a:rPr lang="en-US" sz="2499">
                <a:solidFill>
                  <a:srgbClr val="000000"/>
                </a:solidFill>
                <a:latin typeface="Open Sans 1"/>
                <a:ea typeface="Open Sans 1"/>
                <a:cs typeface="Open Sans 1"/>
                <a:sym typeface="Open Sans 1"/>
              </a:rPr>
              <a:t>P</a:t>
            </a:r>
            <a:r>
              <a:rPr lang="en-US" sz="2499">
                <a:solidFill>
                  <a:srgbClr val="000000"/>
                </a:solidFill>
                <a:latin typeface="Open Sans 1"/>
                <a:ea typeface="Open Sans 1"/>
                <a:cs typeface="Open Sans 1"/>
                <a:sym typeface="Open Sans 1"/>
              </a:rPr>
              <a:t>engembangan KosFinder sebagai aplikasi berbasis WebGIS memberikan berbagai manfaat bagi berbagai pihak. Bagi mahasiswa, sistem ini mempermudah proses pencarian hunian dengan menyediakan informasi lokasi kos secara visual, interaktif, dan terintegrasi dengan data pendukung seperti harga dan fasilitas. Hal ini membantu mahasiswa dalam mengambil keputusan yang lebih tepat berdasarkan preferensi dan kebutuhan mereka. Bagi pemilik kos, platform ini dapat menjadi media promosi digital yang efektif untuk menjangkau lebih banyak calon penyewa. Selain itu, dari sisi akademik, KosFinder dapat dimanfaatkan sebagai sarana analisis spasial terkait persebaran hunian mahasiswa serta aksesibilitas terhadap kampus dan fasilitas umum. Dengan demikian, pemanfaatan WebGIS tidak hanya meningkatkan efisiensi pencarian hunian, tetapi juga mendukung pengambilan keputusan berbasis lokasi secara lebih komprehensif.</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74" r="0" b="-74"/>
              </a:stretch>
            </a:blipFill>
          </p:spPr>
        </p:sp>
      </p:grpSp>
      <p:grpSp>
        <p:nvGrpSpPr>
          <p:cNvPr name="Group 4" id="4"/>
          <p:cNvGrpSpPr/>
          <p:nvPr/>
        </p:nvGrpSpPr>
        <p:grpSpPr>
          <a:xfrm rot="0">
            <a:off x="15977448" y="736370"/>
            <a:ext cx="770855" cy="1031245"/>
            <a:chOff x="0" y="0"/>
            <a:chExt cx="1027807" cy="1374993"/>
          </a:xfrm>
        </p:grpSpPr>
        <p:sp>
          <p:nvSpPr>
            <p:cNvPr name="Freeform 5" id="5"/>
            <p:cNvSpPr/>
            <p:nvPr/>
          </p:nvSpPr>
          <p:spPr>
            <a:xfrm flipH="false" flipV="false" rot="0">
              <a:off x="0" y="0"/>
              <a:ext cx="1027811" cy="1375029"/>
            </a:xfrm>
            <a:custGeom>
              <a:avLst/>
              <a:gdLst/>
              <a:ahLst/>
              <a:cxnLst/>
              <a:rect r="r" b="b" t="t" l="l"/>
              <a:pathLst>
                <a:path h="1375029" w="1027811">
                  <a:moveTo>
                    <a:pt x="0" y="0"/>
                  </a:moveTo>
                  <a:lnTo>
                    <a:pt x="1027811" y="0"/>
                  </a:lnTo>
                  <a:lnTo>
                    <a:pt x="1027811" y="1375029"/>
                  </a:lnTo>
                  <a:lnTo>
                    <a:pt x="0" y="1375029"/>
                  </a:lnTo>
                  <a:lnTo>
                    <a:pt x="0" y="0"/>
                  </a:lnTo>
                  <a:close/>
                </a:path>
              </a:pathLst>
            </a:custGeom>
            <a:blipFill>
              <a:blip r:embed="rId3"/>
              <a:stretch>
                <a:fillRect l="0" t="0" r="0" b="2"/>
              </a:stretch>
            </a:blipFill>
          </p:spPr>
        </p:sp>
      </p:grpSp>
      <p:sp>
        <p:nvSpPr>
          <p:cNvPr name="Freeform 6" id="6"/>
          <p:cNvSpPr/>
          <p:nvPr/>
        </p:nvSpPr>
        <p:spPr>
          <a:xfrm flipH="false" flipV="false" rot="0">
            <a:off x="1138816" y="1572451"/>
            <a:ext cx="4372903" cy="2607344"/>
          </a:xfrm>
          <a:custGeom>
            <a:avLst/>
            <a:gdLst/>
            <a:ahLst/>
            <a:cxnLst/>
            <a:rect r="r" b="b" t="t" l="l"/>
            <a:pathLst>
              <a:path h="2607344" w="4372903">
                <a:moveTo>
                  <a:pt x="0" y="0"/>
                </a:moveTo>
                <a:lnTo>
                  <a:pt x="4372903" y="0"/>
                </a:lnTo>
                <a:lnTo>
                  <a:pt x="4372903" y="2607343"/>
                </a:lnTo>
                <a:lnTo>
                  <a:pt x="0" y="26073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350712" y="2232659"/>
            <a:ext cx="1411140" cy="1231219"/>
          </a:xfrm>
          <a:custGeom>
            <a:avLst/>
            <a:gdLst/>
            <a:ahLst/>
            <a:cxnLst/>
            <a:rect r="r" b="b" t="t" l="l"/>
            <a:pathLst>
              <a:path h="1231219" w="1411140">
                <a:moveTo>
                  <a:pt x="0" y="0"/>
                </a:moveTo>
                <a:lnTo>
                  <a:pt x="1411140" y="0"/>
                </a:lnTo>
                <a:lnTo>
                  <a:pt x="1411140" y="1231220"/>
                </a:lnTo>
                <a:lnTo>
                  <a:pt x="0" y="1231220"/>
                </a:lnTo>
                <a:lnTo>
                  <a:pt x="0" y="0"/>
                </a:lnTo>
                <a:close/>
              </a:path>
            </a:pathLst>
          </a:custGeom>
          <a:blipFill>
            <a:blip r:embed="rId6"/>
            <a:stretch>
              <a:fillRect l="0" t="0" r="0" b="0"/>
            </a:stretch>
          </a:blipFill>
        </p:spPr>
      </p:sp>
      <p:sp>
        <p:nvSpPr>
          <p:cNvPr name="Freeform 8" id="8"/>
          <p:cNvSpPr/>
          <p:nvPr/>
        </p:nvSpPr>
        <p:spPr>
          <a:xfrm flipH="false" flipV="false" rot="0">
            <a:off x="10806685" y="2335433"/>
            <a:ext cx="1472868" cy="1205911"/>
          </a:xfrm>
          <a:custGeom>
            <a:avLst/>
            <a:gdLst/>
            <a:ahLst/>
            <a:cxnLst/>
            <a:rect r="r" b="b" t="t" l="l"/>
            <a:pathLst>
              <a:path h="1205911" w="1472868">
                <a:moveTo>
                  <a:pt x="0" y="0"/>
                </a:moveTo>
                <a:lnTo>
                  <a:pt x="1472868" y="0"/>
                </a:lnTo>
                <a:lnTo>
                  <a:pt x="1472868" y="1205910"/>
                </a:lnTo>
                <a:lnTo>
                  <a:pt x="0" y="12059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028700" y="6650956"/>
            <a:ext cx="4372903" cy="2607344"/>
          </a:xfrm>
          <a:custGeom>
            <a:avLst/>
            <a:gdLst/>
            <a:ahLst/>
            <a:cxnLst/>
            <a:rect r="r" b="b" t="t" l="l"/>
            <a:pathLst>
              <a:path h="2607344" w="4372903">
                <a:moveTo>
                  <a:pt x="0" y="0"/>
                </a:moveTo>
                <a:lnTo>
                  <a:pt x="4372903" y="0"/>
                </a:lnTo>
                <a:lnTo>
                  <a:pt x="4372903" y="2607344"/>
                </a:lnTo>
                <a:lnTo>
                  <a:pt x="0" y="26073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5240601" y="7124201"/>
            <a:ext cx="1370389" cy="1295640"/>
          </a:xfrm>
          <a:custGeom>
            <a:avLst/>
            <a:gdLst/>
            <a:ahLst/>
            <a:cxnLst/>
            <a:rect r="r" b="b" t="t" l="l"/>
            <a:pathLst>
              <a:path h="1295640" w="1370389">
                <a:moveTo>
                  <a:pt x="0" y="0"/>
                </a:moveTo>
                <a:lnTo>
                  <a:pt x="1370388" y="0"/>
                </a:lnTo>
                <a:lnTo>
                  <a:pt x="1370388" y="1295640"/>
                </a:lnTo>
                <a:lnTo>
                  <a:pt x="0" y="1295640"/>
                </a:lnTo>
                <a:lnTo>
                  <a:pt x="0" y="0"/>
                </a:lnTo>
                <a:close/>
              </a:path>
            </a:pathLst>
          </a:custGeom>
          <a:blipFill>
            <a:blip r:embed="rId9"/>
            <a:stretch>
              <a:fillRect l="0" t="0" r="0" b="0"/>
            </a:stretch>
          </a:blipFill>
        </p:spPr>
      </p:sp>
      <p:sp>
        <p:nvSpPr>
          <p:cNvPr name="Freeform 11" id="11"/>
          <p:cNvSpPr/>
          <p:nvPr/>
        </p:nvSpPr>
        <p:spPr>
          <a:xfrm flipH="false" flipV="false" rot="0">
            <a:off x="10806685" y="6666926"/>
            <a:ext cx="2027822" cy="1678023"/>
          </a:xfrm>
          <a:custGeom>
            <a:avLst/>
            <a:gdLst/>
            <a:ahLst/>
            <a:cxnLst/>
            <a:rect r="r" b="b" t="t" l="l"/>
            <a:pathLst>
              <a:path h="1678023" w="2027822">
                <a:moveTo>
                  <a:pt x="0" y="0"/>
                </a:moveTo>
                <a:lnTo>
                  <a:pt x="2027822" y="0"/>
                </a:lnTo>
                <a:lnTo>
                  <a:pt x="2027822" y="1678023"/>
                </a:lnTo>
                <a:lnTo>
                  <a:pt x="0" y="1678023"/>
                </a:lnTo>
                <a:lnTo>
                  <a:pt x="0" y="0"/>
                </a:lnTo>
                <a:close/>
              </a:path>
            </a:pathLst>
          </a:custGeom>
          <a:blipFill>
            <a:blip r:embed="rId10"/>
            <a:stretch>
              <a:fillRect l="0" t="0" r="0" b="0"/>
            </a:stretch>
          </a:blipFill>
        </p:spPr>
      </p:sp>
      <p:sp>
        <p:nvSpPr>
          <p:cNvPr name="Freeform 12" id="12"/>
          <p:cNvSpPr/>
          <p:nvPr/>
        </p:nvSpPr>
        <p:spPr>
          <a:xfrm flipH="false" flipV="false" rot="0">
            <a:off x="6168862" y="2562707"/>
            <a:ext cx="6391715" cy="3898946"/>
          </a:xfrm>
          <a:custGeom>
            <a:avLst/>
            <a:gdLst/>
            <a:ahLst/>
            <a:cxnLst/>
            <a:rect r="r" b="b" t="t" l="l"/>
            <a:pathLst>
              <a:path h="3898946" w="6391715">
                <a:moveTo>
                  <a:pt x="0" y="0"/>
                </a:moveTo>
                <a:lnTo>
                  <a:pt x="6391715" y="0"/>
                </a:lnTo>
                <a:lnTo>
                  <a:pt x="6391715" y="3898946"/>
                </a:lnTo>
                <a:lnTo>
                  <a:pt x="0" y="389894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3" id="13"/>
          <p:cNvSpPr txBox="true"/>
          <p:nvPr/>
        </p:nvSpPr>
        <p:spPr>
          <a:xfrm rot="0">
            <a:off x="5899722" y="5254221"/>
            <a:ext cx="7597971" cy="777239"/>
          </a:xfrm>
          <a:prstGeom prst="rect">
            <a:avLst/>
          </a:prstGeom>
        </p:spPr>
        <p:txBody>
          <a:bodyPr anchor="t" rtlCol="false" tIns="0" lIns="0" bIns="0" rIns="0">
            <a:spAutoFit/>
          </a:bodyPr>
          <a:lstStyle/>
          <a:p>
            <a:pPr algn="ctr">
              <a:lnSpc>
                <a:spcPts val="6480"/>
              </a:lnSpc>
              <a:spcBef>
                <a:spcPct val="0"/>
              </a:spcBef>
            </a:pPr>
            <a:r>
              <a:rPr lang="en-US" b="true" sz="4500">
                <a:solidFill>
                  <a:srgbClr val="EF7F1D"/>
                </a:solidFill>
                <a:latin typeface="Open Sans 1 Bold"/>
                <a:ea typeface="Open Sans 1 Bold"/>
                <a:cs typeface="Open Sans 1 Bold"/>
                <a:sym typeface="Open Sans 1 Bold"/>
              </a:rPr>
              <a:t>Manfaat KosFinder</a:t>
            </a:r>
          </a:p>
        </p:txBody>
      </p:sp>
      <p:sp>
        <p:nvSpPr>
          <p:cNvPr name="Freeform 14" id="14"/>
          <p:cNvSpPr/>
          <p:nvPr/>
        </p:nvSpPr>
        <p:spPr>
          <a:xfrm flipH="true" flipV="false" rot="-1953038">
            <a:off x="4805786" y="3305336"/>
            <a:ext cx="1089852" cy="1626645"/>
          </a:xfrm>
          <a:custGeom>
            <a:avLst/>
            <a:gdLst/>
            <a:ahLst/>
            <a:cxnLst/>
            <a:rect r="r" b="b" t="t" l="l"/>
            <a:pathLst>
              <a:path h="1626645" w="1089852">
                <a:moveTo>
                  <a:pt x="1089852" y="0"/>
                </a:moveTo>
                <a:lnTo>
                  <a:pt x="0" y="0"/>
                </a:lnTo>
                <a:lnTo>
                  <a:pt x="0" y="1626645"/>
                </a:lnTo>
                <a:lnTo>
                  <a:pt x="1089852" y="1626645"/>
                </a:lnTo>
                <a:lnTo>
                  <a:pt x="1089852"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5" id="15"/>
          <p:cNvSpPr/>
          <p:nvPr/>
        </p:nvSpPr>
        <p:spPr>
          <a:xfrm flipH="true" flipV="false" rot="0">
            <a:off x="12802018" y="6469099"/>
            <a:ext cx="4372903" cy="2607344"/>
          </a:xfrm>
          <a:custGeom>
            <a:avLst/>
            <a:gdLst/>
            <a:ahLst/>
            <a:cxnLst/>
            <a:rect r="r" b="b" t="t" l="l"/>
            <a:pathLst>
              <a:path h="2607344" w="4372903">
                <a:moveTo>
                  <a:pt x="4372904" y="0"/>
                </a:moveTo>
                <a:lnTo>
                  <a:pt x="0" y="0"/>
                </a:lnTo>
                <a:lnTo>
                  <a:pt x="0" y="2607344"/>
                </a:lnTo>
                <a:lnTo>
                  <a:pt x="4372904" y="2607344"/>
                </a:lnTo>
                <a:lnTo>
                  <a:pt x="437290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4151636">
            <a:off x="13009248" y="5676988"/>
            <a:ext cx="976889" cy="1458043"/>
          </a:xfrm>
          <a:custGeom>
            <a:avLst/>
            <a:gdLst/>
            <a:ahLst/>
            <a:cxnLst/>
            <a:rect r="r" b="b" t="t" l="l"/>
            <a:pathLst>
              <a:path h="1458043" w="976889">
                <a:moveTo>
                  <a:pt x="976889" y="1458043"/>
                </a:moveTo>
                <a:lnTo>
                  <a:pt x="0" y="1458043"/>
                </a:lnTo>
                <a:lnTo>
                  <a:pt x="0" y="0"/>
                </a:lnTo>
                <a:lnTo>
                  <a:pt x="976889" y="0"/>
                </a:lnTo>
                <a:lnTo>
                  <a:pt x="976889" y="1458043"/>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7" id="17"/>
          <p:cNvSpPr/>
          <p:nvPr/>
        </p:nvSpPr>
        <p:spPr>
          <a:xfrm flipH="true" flipV="false" rot="0">
            <a:off x="12522944" y="1905602"/>
            <a:ext cx="4372903" cy="2607344"/>
          </a:xfrm>
          <a:custGeom>
            <a:avLst/>
            <a:gdLst/>
            <a:ahLst/>
            <a:cxnLst/>
            <a:rect r="r" b="b" t="t" l="l"/>
            <a:pathLst>
              <a:path h="2607344" w="4372903">
                <a:moveTo>
                  <a:pt x="4372903" y="0"/>
                </a:moveTo>
                <a:lnTo>
                  <a:pt x="0" y="0"/>
                </a:lnTo>
                <a:lnTo>
                  <a:pt x="0" y="2607344"/>
                </a:lnTo>
                <a:lnTo>
                  <a:pt x="4372903" y="2607344"/>
                </a:lnTo>
                <a:lnTo>
                  <a:pt x="437290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1226551">
            <a:off x="12034499" y="3328592"/>
            <a:ext cx="976889" cy="1458043"/>
          </a:xfrm>
          <a:custGeom>
            <a:avLst/>
            <a:gdLst/>
            <a:ahLst/>
            <a:cxnLst/>
            <a:rect r="r" b="b" t="t" l="l"/>
            <a:pathLst>
              <a:path h="1458043" w="976889">
                <a:moveTo>
                  <a:pt x="0" y="0"/>
                </a:moveTo>
                <a:lnTo>
                  <a:pt x="976889" y="0"/>
                </a:lnTo>
                <a:lnTo>
                  <a:pt x="976889" y="1458043"/>
                </a:lnTo>
                <a:lnTo>
                  <a:pt x="0" y="145804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9" id="19"/>
          <p:cNvSpPr/>
          <p:nvPr/>
        </p:nvSpPr>
        <p:spPr>
          <a:xfrm flipH="false" flipV="false" rot="-9415299">
            <a:off x="5038070" y="5421286"/>
            <a:ext cx="1089852" cy="1626645"/>
          </a:xfrm>
          <a:custGeom>
            <a:avLst/>
            <a:gdLst/>
            <a:ahLst/>
            <a:cxnLst/>
            <a:rect r="r" b="b" t="t" l="l"/>
            <a:pathLst>
              <a:path h="1626645" w="1089852">
                <a:moveTo>
                  <a:pt x="0" y="0"/>
                </a:moveTo>
                <a:lnTo>
                  <a:pt x="1089852" y="0"/>
                </a:lnTo>
                <a:lnTo>
                  <a:pt x="1089852" y="1626645"/>
                </a:lnTo>
                <a:lnTo>
                  <a:pt x="0" y="162664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0" id="20"/>
          <p:cNvSpPr txBox="true"/>
          <p:nvPr/>
        </p:nvSpPr>
        <p:spPr>
          <a:xfrm rot="0">
            <a:off x="1299823" y="1867502"/>
            <a:ext cx="4050889" cy="1437072"/>
          </a:xfrm>
          <a:prstGeom prst="rect">
            <a:avLst/>
          </a:prstGeom>
        </p:spPr>
        <p:txBody>
          <a:bodyPr anchor="t" rtlCol="false" tIns="0" lIns="0" bIns="0" rIns="0">
            <a:spAutoFit/>
          </a:bodyPr>
          <a:lstStyle/>
          <a:p>
            <a:pPr algn="l" marL="349227" indent="-174613" lvl="1">
              <a:lnSpc>
                <a:spcPts val="2329"/>
              </a:lnSpc>
              <a:spcBef>
                <a:spcPct val="0"/>
              </a:spcBef>
              <a:buFont typeface="Arial"/>
              <a:buChar char="•"/>
            </a:pPr>
            <a:r>
              <a:rPr lang="en-US" sz="1617">
                <a:solidFill>
                  <a:srgbClr val="000000"/>
                </a:solidFill>
                <a:latin typeface="Open Sans 1"/>
                <a:ea typeface="Open Sans 1"/>
                <a:cs typeface="Open Sans 1"/>
                <a:sym typeface="Open Sans 1"/>
              </a:rPr>
              <a:t>M</a:t>
            </a:r>
            <a:r>
              <a:rPr lang="en-US" sz="1617">
                <a:solidFill>
                  <a:srgbClr val="000000"/>
                </a:solidFill>
                <a:latin typeface="Open Sans 1"/>
                <a:ea typeface="Open Sans 1"/>
                <a:cs typeface="Open Sans 1"/>
                <a:sym typeface="Open Sans 1"/>
              </a:rPr>
              <a:t>empermudah pencarian kos berbasis lokasi</a:t>
            </a:r>
          </a:p>
          <a:p>
            <a:pPr algn="l" marL="349227" indent="-174613" lvl="1">
              <a:lnSpc>
                <a:spcPts val="2329"/>
              </a:lnSpc>
              <a:spcBef>
                <a:spcPct val="0"/>
              </a:spcBef>
              <a:buFont typeface="Arial"/>
              <a:buChar char="•"/>
            </a:pPr>
            <a:r>
              <a:rPr lang="en-US" sz="1617">
                <a:solidFill>
                  <a:srgbClr val="000000"/>
                </a:solidFill>
                <a:latin typeface="Open Sans 1"/>
                <a:ea typeface="Open Sans 1"/>
                <a:cs typeface="Open Sans 1"/>
                <a:sym typeface="Open Sans 1"/>
              </a:rPr>
              <a:t>Menyediakan informasi harga &amp; fasilitas</a:t>
            </a:r>
          </a:p>
          <a:p>
            <a:pPr algn="l" marL="349227" indent="-174613" lvl="1">
              <a:lnSpc>
                <a:spcPts val="2329"/>
              </a:lnSpc>
              <a:spcBef>
                <a:spcPct val="0"/>
              </a:spcBef>
              <a:buFont typeface="Arial"/>
              <a:buChar char="•"/>
            </a:pPr>
            <a:r>
              <a:rPr lang="en-US" sz="1617">
                <a:solidFill>
                  <a:srgbClr val="000000"/>
                </a:solidFill>
                <a:latin typeface="Open Sans 1"/>
                <a:ea typeface="Open Sans 1"/>
                <a:cs typeface="Open Sans 1"/>
                <a:sym typeface="Open Sans 1"/>
              </a:rPr>
              <a:t>Membantu pengambilan keputusan</a:t>
            </a:r>
          </a:p>
        </p:txBody>
      </p:sp>
      <p:sp>
        <p:nvSpPr>
          <p:cNvPr name="TextBox 21" id="21"/>
          <p:cNvSpPr txBox="true"/>
          <p:nvPr/>
        </p:nvSpPr>
        <p:spPr>
          <a:xfrm rot="0">
            <a:off x="1532107" y="7086101"/>
            <a:ext cx="4050889" cy="1147417"/>
          </a:xfrm>
          <a:prstGeom prst="rect">
            <a:avLst/>
          </a:prstGeom>
        </p:spPr>
        <p:txBody>
          <a:bodyPr anchor="t" rtlCol="false" tIns="0" lIns="0" bIns="0" rIns="0">
            <a:spAutoFit/>
          </a:bodyPr>
          <a:lstStyle/>
          <a:p>
            <a:pPr algn="l" marL="349227" indent="-174613" lvl="1">
              <a:lnSpc>
                <a:spcPts val="2329"/>
              </a:lnSpc>
              <a:spcBef>
                <a:spcPct val="0"/>
              </a:spcBef>
              <a:buFont typeface="Arial"/>
              <a:buChar char="•"/>
            </a:pPr>
            <a:r>
              <a:rPr lang="en-US" sz="1617">
                <a:solidFill>
                  <a:srgbClr val="000000"/>
                </a:solidFill>
                <a:latin typeface="Open Sans 1"/>
                <a:ea typeface="Open Sans 1"/>
                <a:cs typeface="Open Sans 1"/>
                <a:sym typeface="Open Sans 1"/>
              </a:rPr>
              <a:t>A</a:t>
            </a:r>
            <a:r>
              <a:rPr lang="en-US" sz="1617">
                <a:solidFill>
                  <a:srgbClr val="000000"/>
                </a:solidFill>
                <a:latin typeface="Open Sans 1"/>
                <a:ea typeface="Open Sans 1"/>
                <a:cs typeface="Open Sans 1"/>
                <a:sym typeface="Open Sans 1"/>
              </a:rPr>
              <a:t>nalisis persebaran hunian mahasiswa</a:t>
            </a:r>
          </a:p>
          <a:p>
            <a:pPr algn="l" marL="349227" indent="-174613" lvl="1">
              <a:lnSpc>
                <a:spcPts val="2329"/>
              </a:lnSpc>
              <a:spcBef>
                <a:spcPct val="0"/>
              </a:spcBef>
              <a:buFont typeface="Arial"/>
              <a:buChar char="•"/>
            </a:pPr>
            <a:r>
              <a:rPr lang="en-US" sz="1617">
                <a:solidFill>
                  <a:srgbClr val="000000"/>
                </a:solidFill>
                <a:latin typeface="Open Sans 1"/>
                <a:ea typeface="Open Sans 1"/>
                <a:cs typeface="Open Sans 1"/>
                <a:sym typeface="Open Sans 1"/>
              </a:rPr>
              <a:t>Studi aksesibilitas ke kampus</a:t>
            </a:r>
          </a:p>
          <a:p>
            <a:pPr algn="l" marL="349227" indent="-174613" lvl="1">
              <a:lnSpc>
                <a:spcPts val="2329"/>
              </a:lnSpc>
              <a:spcBef>
                <a:spcPct val="0"/>
              </a:spcBef>
              <a:buFont typeface="Arial"/>
              <a:buChar char="•"/>
            </a:pPr>
            <a:r>
              <a:rPr lang="en-US" sz="1617">
                <a:solidFill>
                  <a:srgbClr val="000000"/>
                </a:solidFill>
                <a:latin typeface="Open Sans 1"/>
                <a:ea typeface="Open Sans 1"/>
                <a:cs typeface="Open Sans 1"/>
                <a:sym typeface="Open Sans 1"/>
              </a:rPr>
              <a:t>Implementasi nyata WebGIS</a:t>
            </a:r>
          </a:p>
        </p:txBody>
      </p:sp>
      <p:sp>
        <p:nvSpPr>
          <p:cNvPr name="TextBox 22" id="22"/>
          <p:cNvSpPr txBox="true"/>
          <p:nvPr/>
        </p:nvSpPr>
        <p:spPr>
          <a:xfrm rot="0">
            <a:off x="12842382" y="2650484"/>
            <a:ext cx="3833854" cy="568107"/>
          </a:xfrm>
          <a:prstGeom prst="rect">
            <a:avLst/>
          </a:prstGeom>
        </p:spPr>
        <p:txBody>
          <a:bodyPr anchor="t" rtlCol="false" tIns="0" lIns="0" bIns="0" rIns="0">
            <a:spAutoFit/>
          </a:bodyPr>
          <a:lstStyle/>
          <a:p>
            <a:pPr algn="l" marL="349227" indent="-174613" lvl="1">
              <a:lnSpc>
                <a:spcPts val="2329"/>
              </a:lnSpc>
              <a:spcBef>
                <a:spcPct val="0"/>
              </a:spcBef>
              <a:buFont typeface="Arial"/>
              <a:buChar char="•"/>
            </a:pPr>
            <a:r>
              <a:rPr lang="en-US" sz="1617">
                <a:solidFill>
                  <a:srgbClr val="000000"/>
                </a:solidFill>
                <a:latin typeface="Open Sans 1"/>
                <a:ea typeface="Open Sans 1"/>
                <a:cs typeface="Open Sans 1"/>
                <a:sym typeface="Open Sans 1"/>
              </a:rPr>
              <a:t>M</a:t>
            </a:r>
            <a:r>
              <a:rPr lang="en-US" sz="1617">
                <a:solidFill>
                  <a:srgbClr val="000000"/>
                </a:solidFill>
                <a:latin typeface="Open Sans 1"/>
                <a:ea typeface="Open Sans 1"/>
                <a:cs typeface="Open Sans 1"/>
                <a:sym typeface="Open Sans 1"/>
              </a:rPr>
              <a:t>edia promosi digital</a:t>
            </a:r>
          </a:p>
          <a:p>
            <a:pPr algn="l" marL="349227" indent="-174613" lvl="1">
              <a:lnSpc>
                <a:spcPts val="2329"/>
              </a:lnSpc>
              <a:spcBef>
                <a:spcPct val="0"/>
              </a:spcBef>
              <a:buFont typeface="Arial"/>
              <a:buChar char="•"/>
            </a:pPr>
            <a:r>
              <a:rPr lang="en-US" sz="1617">
                <a:solidFill>
                  <a:srgbClr val="000000"/>
                </a:solidFill>
                <a:latin typeface="Open Sans 1"/>
                <a:ea typeface="Open Sans 1"/>
                <a:cs typeface="Open Sans 1"/>
                <a:sym typeface="Open Sans 1"/>
              </a:rPr>
              <a:t>Menjangkau lebih banyak penyewa</a:t>
            </a:r>
          </a:p>
        </p:txBody>
      </p:sp>
      <p:sp>
        <p:nvSpPr>
          <p:cNvPr name="TextBox 23" id="23"/>
          <p:cNvSpPr txBox="true"/>
          <p:nvPr/>
        </p:nvSpPr>
        <p:spPr>
          <a:xfrm rot="0">
            <a:off x="13323680" y="7202834"/>
            <a:ext cx="3833854" cy="857762"/>
          </a:xfrm>
          <a:prstGeom prst="rect">
            <a:avLst/>
          </a:prstGeom>
        </p:spPr>
        <p:txBody>
          <a:bodyPr anchor="t" rtlCol="false" tIns="0" lIns="0" bIns="0" rIns="0">
            <a:spAutoFit/>
          </a:bodyPr>
          <a:lstStyle/>
          <a:p>
            <a:pPr algn="l" marL="349227" indent="-174613" lvl="1">
              <a:lnSpc>
                <a:spcPts val="2329"/>
              </a:lnSpc>
              <a:spcBef>
                <a:spcPct val="0"/>
              </a:spcBef>
              <a:buFont typeface="Arial"/>
              <a:buChar char="•"/>
            </a:pPr>
            <a:r>
              <a:rPr lang="en-US" sz="1617">
                <a:solidFill>
                  <a:srgbClr val="000000"/>
                </a:solidFill>
                <a:latin typeface="Open Sans 1"/>
                <a:ea typeface="Open Sans 1"/>
                <a:cs typeface="Open Sans 1"/>
                <a:sym typeface="Open Sans 1"/>
              </a:rPr>
              <a:t>Info</a:t>
            </a:r>
            <a:r>
              <a:rPr lang="en-US" sz="1617">
                <a:solidFill>
                  <a:srgbClr val="000000"/>
                </a:solidFill>
                <a:latin typeface="Open Sans 1"/>
                <a:ea typeface="Open Sans 1"/>
                <a:cs typeface="Open Sans 1"/>
                <a:sym typeface="Open Sans 1"/>
              </a:rPr>
              <a:t>rmasi terintegrasi &amp; interaktif</a:t>
            </a:r>
          </a:p>
          <a:p>
            <a:pPr algn="l" marL="349227" indent="-174613" lvl="1">
              <a:lnSpc>
                <a:spcPts val="2329"/>
              </a:lnSpc>
              <a:spcBef>
                <a:spcPct val="0"/>
              </a:spcBef>
              <a:buFont typeface="Arial"/>
              <a:buChar char="•"/>
            </a:pPr>
            <a:r>
              <a:rPr lang="en-US" sz="1617">
                <a:solidFill>
                  <a:srgbClr val="000000"/>
                </a:solidFill>
                <a:latin typeface="Open Sans 1"/>
                <a:ea typeface="Open Sans 1"/>
                <a:cs typeface="Open Sans 1"/>
                <a:sym typeface="Open Sans 1"/>
              </a:rPr>
              <a:t>Mendukung keputusan berbasis lokasi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74" r="0" b="-74"/>
              </a:stretch>
            </a:blipFill>
          </p:spPr>
        </p:sp>
      </p:grpSp>
      <p:grpSp>
        <p:nvGrpSpPr>
          <p:cNvPr name="Group 4" id="4"/>
          <p:cNvGrpSpPr/>
          <p:nvPr/>
        </p:nvGrpSpPr>
        <p:grpSpPr>
          <a:xfrm rot="0">
            <a:off x="15977448" y="736370"/>
            <a:ext cx="770855" cy="1031245"/>
            <a:chOff x="0" y="0"/>
            <a:chExt cx="1027807" cy="1374993"/>
          </a:xfrm>
        </p:grpSpPr>
        <p:sp>
          <p:nvSpPr>
            <p:cNvPr name="Freeform 5" id="5"/>
            <p:cNvSpPr/>
            <p:nvPr/>
          </p:nvSpPr>
          <p:spPr>
            <a:xfrm flipH="false" flipV="false" rot="0">
              <a:off x="0" y="0"/>
              <a:ext cx="1027811" cy="1375029"/>
            </a:xfrm>
            <a:custGeom>
              <a:avLst/>
              <a:gdLst/>
              <a:ahLst/>
              <a:cxnLst/>
              <a:rect r="r" b="b" t="t" l="l"/>
              <a:pathLst>
                <a:path h="1375029" w="1027811">
                  <a:moveTo>
                    <a:pt x="0" y="0"/>
                  </a:moveTo>
                  <a:lnTo>
                    <a:pt x="1027811" y="0"/>
                  </a:lnTo>
                  <a:lnTo>
                    <a:pt x="1027811" y="1375029"/>
                  </a:lnTo>
                  <a:lnTo>
                    <a:pt x="0" y="1375029"/>
                  </a:lnTo>
                  <a:lnTo>
                    <a:pt x="0" y="0"/>
                  </a:lnTo>
                  <a:close/>
                </a:path>
              </a:pathLst>
            </a:custGeom>
            <a:blipFill>
              <a:blip r:embed="rId3"/>
              <a:stretch>
                <a:fillRect l="0" t="0" r="0" b="2"/>
              </a:stretch>
            </a:blipFill>
          </p:spPr>
        </p:sp>
      </p:grpSp>
      <p:sp>
        <p:nvSpPr>
          <p:cNvPr name="TextBox 6" id="6"/>
          <p:cNvSpPr txBox="true"/>
          <p:nvPr/>
        </p:nvSpPr>
        <p:spPr>
          <a:xfrm rot="0">
            <a:off x="1028700" y="1239474"/>
            <a:ext cx="16230600" cy="956310"/>
          </a:xfrm>
          <a:prstGeom prst="rect">
            <a:avLst/>
          </a:prstGeom>
        </p:spPr>
        <p:txBody>
          <a:bodyPr anchor="t" rtlCol="false" tIns="0" lIns="0" bIns="0" rIns="0">
            <a:spAutoFit/>
          </a:bodyPr>
          <a:lstStyle/>
          <a:p>
            <a:pPr algn="ctr">
              <a:lnSpc>
                <a:spcPts val="7920"/>
              </a:lnSpc>
              <a:spcBef>
                <a:spcPct val="0"/>
              </a:spcBef>
            </a:pPr>
            <a:r>
              <a:rPr lang="en-US" b="true" sz="5500">
                <a:solidFill>
                  <a:srgbClr val="EF7F1D"/>
                </a:solidFill>
                <a:latin typeface="Open Sans 1 Bold"/>
                <a:ea typeface="Open Sans 1 Bold"/>
                <a:cs typeface="Open Sans 1 Bold"/>
                <a:sym typeface="Open Sans 1 Bold"/>
              </a:rPr>
              <a:t>PERENCANAAN INTERFACE</a:t>
            </a:r>
          </a:p>
        </p:txBody>
      </p:sp>
      <p:sp>
        <p:nvSpPr>
          <p:cNvPr name="TextBox 7" id="7"/>
          <p:cNvSpPr txBox="true"/>
          <p:nvPr/>
        </p:nvSpPr>
        <p:spPr>
          <a:xfrm rot="0">
            <a:off x="2901017" y="2289848"/>
            <a:ext cx="12485966" cy="453505"/>
          </a:xfrm>
          <a:prstGeom prst="rect">
            <a:avLst/>
          </a:prstGeom>
        </p:spPr>
        <p:txBody>
          <a:bodyPr anchor="t" rtlCol="false" tIns="0" lIns="0" bIns="0" rIns="0">
            <a:spAutoFit/>
          </a:bodyPr>
          <a:lstStyle/>
          <a:p>
            <a:pPr algn="ctr">
              <a:lnSpc>
                <a:spcPts val="3774"/>
              </a:lnSpc>
              <a:spcBef>
                <a:spcPct val="0"/>
              </a:spcBef>
            </a:pPr>
            <a:r>
              <a:rPr lang="en-US" sz="2621">
                <a:solidFill>
                  <a:srgbClr val="000000"/>
                </a:solidFill>
                <a:latin typeface="Open Sans 1"/>
                <a:ea typeface="Open Sans 1"/>
                <a:cs typeface="Open Sans 1"/>
                <a:sym typeface="Open Sans 1"/>
              </a:rPr>
              <a:t>Interface Di Rancang Untuk Pengguna Dengan Prinsip : </a:t>
            </a:r>
          </a:p>
        </p:txBody>
      </p:sp>
      <p:sp>
        <p:nvSpPr>
          <p:cNvPr name="TextBox 8" id="8"/>
          <p:cNvSpPr txBox="true"/>
          <p:nvPr/>
        </p:nvSpPr>
        <p:spPr>
          <a:xfrm rot="0">
            <a:off x="1305665" y="3257703"/>
            <a:ext cx="15676670" cy="3190447"/>
          </a:xfrm>
          <a:prstGeom prst="rect">
            <a:avLst/>
          </a:prstGeom>
        </p:spPr>
        <p:txBody>
          <a:bodyPr anchor="t" rtlCol="false" tIns="0" lIns="0" bIns="0" rIns="0">
            <a:spAutoFit/>
          </a:bodyPr>
          <a:lstStyle/>
          <a:p>
            <a:pPr algn="just">
              <a:lnSpc>
                <a:spcPts val="3620"/>
              </a:lnSpc>
            </a:pPr>
            <a:r>
              <a:rPr lang="en-US" sz="2514">
                <a:solidFill>
                  <a:srgbClr val="000000"/>
                </a:solidFill>
                <a:latin typeface="Open Sans 1"/>
                <a:ea typeface="Open Sans 1"/>
                <a:cs typeface="Open Sans 1"/>
                <a:sym typeface="Open Sans 1"/>
              </a:rPr>
              <a:t>Perencanaan antarmuka WebGIS dirancang dengan mempertimbangkan aspek kemudahan penggunaan, kejelasan informasi, dan responsivitas tampilan. Interface utama terdiri dari beberapa komponen penting, yaitu navbar sebagai navigasi utama, sidebar yang berfungsi sebagai panel filter pencarian, serta peta interaktif sebagai elemen utama dalam menampilkan persebaran kos. Selain itu, terdapat popup informasi yang muncul ketika pengguna memilih titik lokasi tertentu, yang berisi detail kos seperti harga, fasilitas, dan kontak pemilik. Desain ini bertujuan agar pengguna dapat dengan mudah memahami informasi yang disajikan dan melakukan pencarian secara efisien.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74" r="0" b="-74"/>
              </a:stretch>
            </a:blipFill>
          </p:spPr>
        </p:sp>
      </p:grpSp>
      <p:grpSp>
        <p:nvGrpSpPr>
          <p:cNvPr name="Group 4" id="4"/>
          <p:cNvGrpSpPr/>
          <p:nvPr/>
        </p:nvGrpSpPr>
        <p:grpSpPr>
          <a:xfrm rot="0">
            <a:off x="15977448" y="736370"/>
            <a:ext cx="770855" cy="1031245"/>
            <a:chOff x="0" y="0"/>
            <a:chExt cx="1027807" cy="1374993"/>
          </a:xfrm>
        </p:grpSpPr>
        <p:sp>
          <p:nvSpPr>
            <p:cNvPr name="Freeform 5" id="5"/>
            <p:cNvSpPr/>
            <p:nvPr/>
          </p:nvSpPr>
          <p:spPr>
            <a:xfrm flipH="false" flipV="false" rot="0">
              <a:off x="0" y="0"/>
              <a:ext cx="1027811" cy="1375029"/>
            </a:xfrm>
            <a:custGeom>
              <a:avLst/>
              <a:gdLst/>
              <a:ahLst/>
              <a:cxnLst/>
              <a:rect r="r" b="b" t="t" l="l"/>
              <a:pathLst>
                <a:path h="1375029" w="1027811">
                  <a:moveTo>
                    <a:pt x="0" y="0"/>
                  </a:moveTo>
                  <a:lnTo>
                    <a:pt x="1027811" y="0"/>
                  </a:lnTo>
                  <a:lnTo>
                    <a:pt x="1027811" y="1375029"/>
                  </a:lnTo>
                  <a:lnTo>
                    <a:pt x="0" y="1375029"/>
                  </a:lnTo>
                  <a:lnTo>
                    <a:pt x="0" y="0"/>
                  </a:lnTo>
                  <a:close/>
                </a:path>
              </a:pathLst>
            </a:custGeom>
            <a:blipFill>
              <a:blip r:embed="rId3"/>
              <a:stretch>
                <a:fillRect l="0" t="0" r="0" b="2"/>
              </a:stretch>
            </a:blipFill>
          </p:spPr>
        </p:sp>
      </p:grpSp>
      <p:sp>
        <p:nvSpPr>
          <p:cNvPr name="TextBox 6" id="6"/>
          <p:cNvSpPr txBox="true"/>
          <p:nvPr/>
        </p:nvSpPr>
        <p:spPr>
          <a:xfrm rot="0">
            <a:off x="1028700" y="1118642"/>
            <a:ext cx="16230600" cy="1045845"/>
          </a:xfrm>
          <a:prstGeom prst="rect">
            <a:avLst/>
          </a:prstGeom>
        </p:spPr>
        <p:txBody>
          <a:bodyPr anchor="t" rtlCol="false" tIns="0" lIns="0" bIns="0" rIns="0">
            <a:spAutoFit/>
          </a:bodyPr>
          <a:lstStyle/>
          <a:p>
            <a:pPr algn="ctr">
              <a:lnSpc>
                <a:spcPts val="8640"/>
              </a:lnSpc>
              <a:spcBef>
                <a:spcPct val="0"/>
              </a:spcBef>
            </a:pPr>
            <a:r>
              <a:rPr lang="en-US" b="true" sz="6000">
                <a:solidFill>
                  <a:srgbClr val="EF7F1D"/>
                </a:solidFill>
                <a:latin typeface="Open Sans 1 Bold"/>
                <a:ea typeface="Open Sans 1 Bold"/>
                <a:cs typeface="Open Sans 1 Bold"/>
                <a:sym typeface="Open Sans 1 Bold"/>
              </a:rPr>
              <a:t>DATA YANG DIGUNAKAN</a:t>
            </a:r>
          </a:p>
        </p:txBody>
      </p:sp>
      <p:sp>
        <p:nvSpPr>
          <p:cNvPr name="TextBox 7" id="7"/>
          <p:cNvSpPr txBox="true"/>
          <p:nvPr/>
        </p:nvSpPr>
        <p:spPr>
          <a:xfrm rot="0">
            <a:off x="2901017" y="2107338"/>
            <a:ext cx="12485966" cy="453505"/>
          </a:xfrm>
          <a:prstGeom prst="rect">
            <a:avLst/>
          </a:prstGeom>
        </p:spPr>
        <p:txBody>
          <a:bodyPr anchor="t" rtlCol="false" tIns="0" lIns="0" bIns="0" rIns="0">
            <a:spAutoFit/>
          </a:bodyPr>
          <a:lstStyle/>
          <a:p>
            <a:pPr algn="ctr">
              <a:lnSpc>
                <a:spcPts val="3774"/>
              </a:lnSpc>
              <a:spcBef>
                <a:spcPct val="0"/>
              </a:spcBef>
            </a:pPr>
            <a:r>
              <a:rPr lang="en-US" sz="2621">
                <a:solidFill>
                  <a:srgbClr val="000000"/>
                </a:solidFill>
                <a:latin typeface="Open Sans 1"/>
                <a:ea typeface="Open Sans 1"/>
                <a:cs typeface="Open Sans 1"/>
                <a:sym typeface="Open Sans 1"/>
              </a:rPr>
              <a:t>Fitur Pencarian Kost Berdasarkan Lokasi, Harga, Fasilitas dan Prefensi Pengguna</a:t>
            </a:r>
          </a:p>
        </p:txBody>
      </p:sp>
      <p:grpSp>
        <p:nvGrpSpPr>
          <p:cNvPr name="Group 8" id="8"/>
          <p:cNvGrpSpPr/>
          <p:nvPr/>
        </p:nvGrpSpPr>
        <p:grpSpPr>
          <a:xfrm rot="0">
            <a:off x="1028700" y="2964967"/>
            <a:ext cx="4983013" cy="6066375"/>
            <a:chOff x="0" y="0"/>
            <a:chExt cx="1312399" cy="1597728"/>
          </a:xfrm>
        </p:grpSpPr>
        <p:sp>
          <p:nvSpPr>
            <p:cNvPr name="Freeform 9" id="9"/>
            <p:cNvSpPr/>
            <p:nvPr/>
          </p:nvSpPr>
          <p:spPr>
            <a:xfrm flipH="false" flipV="false" rot="0">
              <a:off x="0" y="0"/>
              <a:ext cx="1312399" cy="1597728"/>
            </a:xfrm>
            <a:custGeom>
              <a:avLst/>
              <a:gdLst/>
              <a:ahLst/>
              <a:cxnLst/>
              <a:rect r="r" b="b" t="t" l="l"/>
              <a:pathLst>
                <a:path h="1597728" w="1312399">
                  <a:moveTo>
                    <a:pt x="31073" y="0"/>
                  </a:moveTo>
                  <a:lnTo>
                    <a:pt x="1281325" y="0"/>
                  </a:lnTo>
                  <a:cubicBezTo>
                    <a:pt x="1298487" y="0"/>
                    <a:pt x="1312399" y="13912"/>
                    <a:pt x="1312399" y="31073"/>
                  </a:cubicBezTo>
                  <a:lnTo>
                    <a:pt x="1312399" y="1566655"/>
                  </a:lnTo>
                  <a:cubicBezTo>
                    <a:pt x="1312399" y="1574896"/>
                    <a:pt x="1309125" y="1582800"/>
                    <a:pt x="1303297" y="1588627"/>
                  </a:cubicBezTo>
                  <a:cubicBezTo>
                    <a:pt x="1297470" y="1594455"/>
                    <a:pt x="1289566" y="1597728"/>
                    <a:pt x="1281325" y="1597728"/>
                  </a:cubicBezTo>
                  <a:lnTo>
                    <a:pt x="31073" y="1597728"/>
                  </a:lnTo>
                  <a:cubicBezTo>
                    <a:pt x="13912" y="1597728"/>
                    <a:pt x="0" y="1583816"/>
                    <a:pt x="0" y="1566655"/>
                  </a:cubicBezTo>
                  <a:lnTo>
                    <a:pt x="0" y="31073"/>
                  </a:lnTo>
                  <a:cubicBezTo>
                    <a:pt x="0" y="13912"/>
                    <a:pt x="13912" y="0"/>
                    <a:pt x="31073" y="0"/>
                  </a:cubicBezTo>
                  <a:close/>
                </a:path>
              </a:pathLst>
            </a:custGeom>
            <a:ln w="38100" cap="sq">
              <a:solidFill>
                <a:srgbClr val="AEB1B5"/>
              </a:solidFill>
              <a:prstDash val="solid"/>
              <a:miter/>
            </a:ln>
          </p:spPr>
        </p:sp>
        <p:sp>
          <p:nvSpPr>
            <p:cNvPr name="TextBox 10" id="10"/>
            <p:cNvSpPr txBox="true"/>
            <p:nvPr/>
          </p:nvSpPr>
          <p:spPr>
            <a:xfrm>
              <a:off x="0" y="-38100"/>
              <a:ext cx="1312399" cy="1635828"/>
            </a:xfrm>
            <a:prstGeom prst="rect">
              <a:avLst/>
            </a:prstGeom>
          </p:spPr>
          <p:txBody>
            <a:bodyPr anchor="ctr" rtlCol="false" tIns="50800" lIns="50800" bIns="50800" rIns="50800"/>
            <a:lstStyle/>
            <a:p>
              <a:pPr algn="ctr">
                <a:lnSpc>
                  <a:spcPts val="2329"/>
                </a:lnSpc>
              </a:pPr>
            </a:p>
          </p:txBody>
        </p:sp>
      </p:grpSp>
      <p:sp>
        <p:nvSpPr>
          <p:cNvPr name="TextBox 11" id="11"/>
          <p:cNvSpPr txBox="true"/>
          <p:nvPr/>
        </p:nvSpPr>
        <p:spPr>
          <a:xfrm rot="0">
            <a:off x="1731341" y="3336968"/>
            <a:ext cx="1852851" cy="284072"/>
          </a:xfrm>
          <a:prstGeom prst="rect">
            <a:avLst/>
          </a:prstGeom>
        </p:spPr>
        <p:txBody>
          <a:bodyPr anchor="t" rtlCol="false" tIns="0" lIns="0" bIns="0" rIns="0">
            <a:spAutoFit/>
          </a:bodyPr>
          <a:lstStyle/>
          <a:p>
            <a:pPr algn="ctr">
              <a:lnSpc>
                <a:spcPts val="2329"/>
              </a:lnSpc>
              <a:spcBef>
                <a:spcPct val="0"/>
              </a:spcBef>
            </a:pPr>
            <a:r>
              <a:rPr lang="en-US" sz="1617">
                <a:solidFill>
                  <a:srgbClr val="000000"/>
                </a:solidFill>
                <a:latin typeface="Open Sans 1"/>
                <a:ea typeface="Open Sans 1"/>
                <a:cs typeface="Open Sans 1"/>
                <a:sym typeface="Open Sans 1"/>
              </a:rPr>
              <a:t>Teks paragraf Anda</a:t>
            </a:r>
          </a:p>
        </p:txBody>
      </p:sp>
      <p:grpSp>
        <p:nvGrpSpPr>
          <p:cNvPr name="Group 12" id="12"/>
          <p:cNvGrpSpPr/>
          <p:nvPr/>
        </p:nvGrpSpPr>
        <p:grpSpPr>
          <a:xfrm rot="0">
            <a:off x="1273587" y="3169230"/>
            <a:ext cx="2768359" cy="657648"/>
            <a:chOff x="0" y="0"/>
            <a:chExt cx="729115" cy="173208"/>
          </a:xfrm>
        </p:grpSpPr>
        <p:sp>
          <p:nvSpPr>
            <p:cNvPr name="Freeform 13" id="13"/>
            <p:cNvSpPr/>
            <p:nvPr/>
          </p:nvSpPr>
          <p:spPr>
            <a:xfrm flipH="false" flipV="false" rot="0">
              <a:off x="0" y="0"/>
              <a:ext cx="729115" cy="173208"/>
            </a:xfrm>
            <a:custGeom>
              <a:avLst/>
              <a:gdLst/>
              <a:ahLst/>
              <a:cxnLst/>
              <a:rect r="r" b="b" t="t" l="l"/>
              <a:pathLst>
                <a:path h="173208" w="729115">
                  <a:moveTo>
                    <a:pt x="55931" y="0"/>
                  </a:moveTo>
                  <a:lnTo>
                    <a:pt x="673184" y="0"/>
                  </a:lnTo>
                  <a:cubicBezTo>
                    <a:pt x="688018" y="0"/>
                    <a:pt x="702244" y="5893"/>
                    <a:pt x="712733" y="16382"/>
                  </a:cubicBezTo>
                  <a:cubicBezTo>
                    <a:pt x="723222" y="26871"/>
                    <a:pt x="729115" y="41098"/>
                    <a:pt x="729115" y="55931"/>
                  </a:cubicBezTo>
                  <a:lnTo>
                    <a:pt x="729115" y="117276"/>
                  </a:lnTo>
                  <a:cubicBezTo>
                    <a:pt x="729115" y="132110"/>
                    <a:pt x="723222" y="146337"/>
                    <a:pt x="712733" y="156826"/>
                  </a:cubicBezTo>
                  <a:cubicBezTo>
                    <a:pt x="702244" y="167315"/>
                    <a:pt x="688018" y="173208"/>
                    <a:pt x="673184" y="173208"/>
                  </a:cubicBezTo>
                  <a:lnTo>
                    <a:pt x="55931" y="173208"/>
                  </a:lnTo>
                  <a:cubicBezTo>
                    <a:pt x="41098" y="173208"/>
                    <a:pt x="26871" y="167315"/>
                    <a:pt x="16382" y="156826"/>
                  </a:cubicBezTo>
                  <a:cubicBezTo>
                    <a:pt x="5893" y="146337"/>
                    <a:pt x="0" y="132110"/>
                    <a:pt x="0" y="117276"/>
                  </a:cubicBezTo>
                  <a:lnTo>
                    <a:pt x="0" y="55931"/>
                  </a:lnTo>
                  <a:cubicBezTo>
                    <a:pt x="0" y="41098"/>
                    <a:pt x="5893" y="26871"/>
                    <a:pt x="16382" y="16382"/>
                  </a:cubicBezTo>
                  <a:cubicBezTo>
                    <a:pt x="26871" y="5893"/>
                    <a:pt x="41098" y="0"/>
                    <a:pt x="55931" y="0"/>
                  </a:cubicBezTo>
                  <a:close/>
                </a:path>
              </a:pathLst>
            </a:custGeom>
            <a:solidFill>
              <a:srgbClr val="FFFFFF"/>
            </a:solidFill>
            <a:ln w="19050" cap="sq">
              <a:solidFill>
                <a:srgbClr val="000000"/>
              </a:solidFill>
              <a:prstDash val="solid"/>
              <a:miter/>
            </a:ln>
          </p:spPr>
        </p:sp>
        <p:sp>
          <p:nvSpPr>
            <p:cNvPr name="TextBox 14" id="14"/>
            <p:cNvSpPr txBox="true"/>
            <p:nvPr/>
          </p:nvSpPr>
          <p:spPr>
            <a:xfrm>
              <a:off x="0" y="-38100"/>
              <a:ext cx="729115" cy="211308"/>
            </a:xfrm>
            <a:prstGeom prst="rect">
              <a:avLst/>
            </a:prstGeom>
          </p:spPr>
          <p:txBody>
            <a:bodyPr anchor="ctr" rtlCol="false" tIns="50800" lIns="50800" bIns="50800" rIns="50800"/>
            <a:lstStyle/>
            <a:p>
              <a:pPr algn="ctr">
                <a:lnSpc>
                  <a:spcPts val="2329"/>
                </a:lnSpc>
              </a:pPr>
            </a:p>
          </p:txBody>
        </p:sp>
      </p:grpSp>
      <p:sp>
        <p:nvSpPr>
          <p:cNvPr name="TextBox 15" id="15"/>
          <p:cNvSpPr txBox="true"/>
          <p:nvPr/>
        </p:nvSpPr>
        <p:spPr>
          <a:xfrm rot="0">
            <a:off x="1578226" y="3336968"/>
            <a:ext cx="2159079" cy="306552"/>
          </a:xfrm>
          <a:prstGeom prst="rect">
            <a:avLst/>
          </a:prstGeom>
        </p:spPr>
        <p:txBody>
          <a:bodyPr anchor="t" rtlCol="false" tIns="0" lIns="0" bIns="0" rIns="0">
            <a:spAutoFit/>
          </a:bodyPr>
          <a:lstStyle/>
          <a:p>
            <a:pPr algn="ctr">
              <a:lnSpc>
                <a:spcPts val="2617"/>
              </a:lnSpc>
              <a:spcBef>
                <a:spcPct val="0"/>
              </a:spcBef>
            </a:pPr>
            <a:r>
              <a:rPr lang="en-US" b="true" sz="1817">
                <a:solidFill>
                  <a:srgbClr val="06656B"/>
                </a:solidFill>
                <a:latin typeface="Open Sans 1 Bold"/>
                <a:ea typeface="Open Sans 1 Bold"/>
                <a:cs typeface="Open Sans 1 Bold"/>
                <a:sym typeface="Open Sans 1 Bold"/>
              </a:rPr>
              <a:t>Data / Fitur Utama</a:t>
            </a:r>
          </a:p>
        </p:txBody>
      </p:sp>
      <p:sp>
        <p:nvSpPr>
          <p:cNvPr name="TextBox 16" id="16"/>
          <p:cNvSpPr txBox="true"/>
          <p:nvPr/>
        </p:nvSpPr>
        <p:spPr>
          <a:xfrm rot="0">
            <a:off x="1273587" y="4265033"/>
            <a:ext cx="4549259" cy="2651048"/>
          </a:xfrm>
          <a:prstGeom prst="rect">
            <a:avLst/>
          </a:prstGeom>
        </p:spPr>
        <p:txBody>
          <a:bodyPr anchor="t" rtlCol="false" tIns="0" lIns="0" bIns="0" rIns="0">
            <a:spAutoFit/>
          </a:bodyPr>
          <a:lstStyle/>
          <a:p>
            <a:pPr algn="l" marL="450339" indent="-225170" lvl="1">
              <a:lnSpc>
                <a:spcPts val="3003"/>
              </a:lnSpc>
              <a:buFont typeface="Arial"/>
              <a:buChar char="•"/>
            </a:pPr>
            <a:r>
              <a:rPr lang="en-US" sz="2085">
                <a:solidFill>
                  <a:srgbClr val="000000"/>
                </a:solidFill>
                <a:latin typeface="Open Sans 1"/>
                <a:ea typeface="Open Sans 1"/>
                <a:cs typeface="Open Sans 1"/>
                <a:sym typeface="Open Sans 1"/>
              </a:rPr>
              <a:t>Lokasi Kost </a:t>
            </a:r>
          </a:p>
          <a:p>
            <a:pPr algn="l" marL="450339" indent="-225170" lvl="1">
              <a:lnSpc>
                <a:spcPts val="3003"/>
              </a:lnSpc>
              <a:buFont typeface="Arial"/>
              <a:buChar char="•"/>
            </a:pPr>
            <a:r>
              <a:rPr lang="en-US" sz="2085">
                <a:solidFill>
                  <a:srgbClr val="000000"/>
                </a:solidFill>
                <a:latin typeface="Open Sans 1"/>
                <a:ea typeface="Open Sans 1"/>
                <a:cs typeface="Open Sans 1"/>
                <a:sym typeface="Open Sans 1"/>
              </a:rPr>
              <a:t>Kedekatan dengan kampus</a:t>
            </a:r>
          </a:p>
          <a:p>
            <a:pPr algn="l" marL="450339" indent="-225170" lvl="1">
              <a:lnSpc>
                <a:spcPts val="3003"/>
              </a:lnSpc>
              <a:buFont typeface="Arial"/>
              <a:buChar char="•"/>
            </a:pPr>
            <a:r>
              <a:rPr lang="en-US" sz="2085">
                <a:solidFill>
                  <a:srgbClr val="000000"/>
                </a:solidFill>
                <a:latin typeface="Open Sans 1"/>
                <a:ea typeface="Open Sans 1"/>
                <a:cs typeface="Open Sans 1"/>
                <a:sym typeface="Open Sans 1"/>
              </a:rPr>
              <a:t>Fasilitas Kamar Mandi </a:t>
            </a:r>
          </a:p>
          <a:p>
            <a:pPr algn="l" marL="450339" indent="-225170" lvl="1">
              <a:lnSpc>
                <a:spcPts val="3003"/>
              </a:lnSpc>
              <a:buFont typeface="Arial"/>
              <a:buChar char="•"/>
            </a:pPr>
            <a:r>
              <a:rPr lang="en-US" sz="2085">
                <a:solidFill>
                  <a:srgbClr val="000000"/>
                </a:solidFill>
                <a:latin typeface="Open Sans 1"/>
                <a:ea typeface="Open Sans 1"/>
                <a:cs typeface="Open Sans 1"/>
                <a:sym typeface="Open Sans 1"/>
              </a:rPr>
              <a:t>Rentang Harga Sewa </a:t>
            </a:r>
          </a:p>
          <a:p>
            <a:pPr algn="l" marL="450339" indent="-225170" lvl="1">
              <a:lnSpc>
                <a:spcPts val="3003"/>
              </a:lnSpc>
              <a:buFont typeface="Arial"/>
              <a:buChar char="•"/>
            </a:pPr>
            <a:r>
              <a:rPr lang="en-US" sz="2085">
                <a:solidFill>
                  <a:srgbClr val="000000"/>
                </a:solidFill>
                <a:latin typeface="Open Sans 1"/>
                <a:ea typeface="Open Sans 1"/>
                <a:cs typeface="Open Sans 1"/>
                <a:sym typeface="Open Sans 1"/>
              </a:rPr>
              <a:t>Jenis Kost (Campur/Non-Campur)</a:t>
            </a:r>
          </a:p>
          <a:p>
            <a:pPr algn="l" marL="450339" indent="-225170" lvl="1">
              <a:lnSpc>
                <a:spcPts val="3003"/>
              </a:lnSpc>
              <a:buFont typeface="Arial"/>
              <a:buChar char="•"/>
            </a:pPr>
            <a:r>
              <a:rPr lang="en-US" sz="2085">
                <a:solidFill>
                  <a:srgbClr val="000000"/>
                </a:solidFill>
                <a:latin typeface="Open Sans 1"/>
                <a:ea typeface="Open Sans 1"/>
                <a:cs typeface="Open Sans 1"/>
                <a:sym typeface="Open Sans 1"/>
              </a:rPr>
              <a:t>Ketentuan Jam Malam </a:t>
            </a:r>
          </a:p>
          <a:p>
            <a:pPr algn="l" marL="450339" indent="-225170" lvl="1">
              <a:lnSpc>
                <a:spcPts val="3003"/>
              </a:lnSpc>
              <a:buFont typeface="Arial"/>
              <a:buChar char="•"/>
            </a:pPr>
            <a:r>
              <a:rPr lang="en-US" sz="2085">
                <a:solidFill>
                  <a:srgbClr val="000000"/>
                </a:solidFill>
                <a:latin typeface="Open Sans 1"/>
                <a:ea typeface="Open Sans 1"/>
                <a:cs typeface="Open Sans 1"/>
                <a:sym typeface="Open Sans 1"/>
              </a:rPr>
              <a:t>Jarak Tempuh Ke Kampus</a:t>
            </a:r>
          </a:p>
        </p:txBody>
      </p:sp>
      <p:sp>
        <p:nvSpPr>
          <p:cNvPr name="TextBox 17" id="17"/>
          <p:cNvSpPr txBox="true"/>
          <p:nvPr/>
        </p:nvSpPr>
        <p:spPr>
          <a:xfrm rot="0">
            <a:off x="1151143" y="7373285"/>
            <a:ext cx="4738127" cy="918956"/>
          </a:xfrm>
          <a:prstGeom prst="rect">
            <a:avLst/>
          </a:prstGeom>
        </p:spPr>
        <p:txBody>
          <a:bodyPr anchor="t" rtlCol="false" tIns="0" lIns="0" bIns="0" rIns="0">
            <a:spAutoFit/>
          </a:bodyPr>
          <a:lstStyle/>
          <a:p>
            <a:pPr algn="ctr">
              <a:lnSpc>
                <a:spcPts val="2484"/>
              </a:lnSpc>
              <a:spcBef>
                <a:spcPct val="0"/>
              </a:spcBef>
            </a:pPr>
            <a:r>
              <a:rPr lang="en-US" sz="1725">
                <a:solidFill>
                  <a:srgbClr val="000000"/>
                </a:solidFill>
                <a:latin typeface="Open Sans 1"/>
                <a:ea typeface="Open Sans 1"/>
                <a:cs typeface="Open Sans 1"/>
                <a:sym typeface="Open Sans 1"/>
              </a:rPr>
              <a:t>Data utama dipakai untuk menyesuaikan hasil pencarian kost dengan kebutuhan dan preferensi pengguna</a:t>
            </a:r>
          </a:p>
        </p:txBody>
      </p:sp>
      <p:grpSp>
        <p:nvGrpSpPr>
          <p:cNvPr name="Group 18" id="18"/>
          <p:cNvGrpSpPr/>
          <p:nvPr/>
        </p:nvGrpSpPr>
        <p:grpSpPr>
          <a:xfrm rot="0">
            <a:off x="6652493" y="2964967"/>
            <a:ext cx="10338918" cy="6066375"/>
            <a:chOff x="0" y="0"/>
            <a:chExt cx="2723007" cy="1597728"/>
          </a:xfrm>
        </p:grpSpPr>
        <p:sp>
          <p:nvSpPr>
            <p:cNvPr name="Freeform 19" id="19"/>
            <p:cNvSpPr/>
            <p:nvPr/>
          </p:nvSpPr>
          <p:spPr>
            <a:xfrm flipH="false" flipV="false" rot="0">
              <a:off x="0" y="0"/>
              <a:ext cx="2723007" cy="1597728"/>
            </a:xfrm>
            <a:custGeom>
              <a:avLst/>
              <a:gdLst/>
              <a:ahLst/>
              <a:cxnLst/>
              <a:rect r="r" b="b" t="t" l="l"/>
              <a:pathLst>
                <a:path h="1597728" w="2723007">
                  <a:moveTo>
                    <a:pt x="14976" y="0"/>
                  </a:moveTo>
                  <a:lnTo>
                    <a:pt x="2708031" y="0"/>
                  </a:lnTo>
                  <a:cubicBezTo>
                    <a:pt x="2716302" y="0"/>
                    <a:pt x="2723007" y="6705"/>
                    <a:pt x="2723007" y="14976"/>
                  </a:cubicBezTo>
                  <a:lnTo>
                    <a:pt x="2723007" y="1582752"/>
                  </a:lnTo>
                  <a:cubicBezTo>
                    <a:pt x="2723007" y="1586724"/>
                    <a:pt x="2721429" y="1590533"/>
                    <a:pt x="2718621" y="1593342"/>
                  </a:cubicBezTo>
                  <a:cubicBezTo>
                    <a:pt x="2715812" y="1596150"/>
                    <a:pt x="2712003" y="1597728"/>
                    <a:pt x="2708031" y="1597728"/>
                  </a:cubicBezTo>
                  <a:lnTo>
                    <a:pt x="14976" y="1597728"/>
                  </a:lnTo>
                  <a:cubicBezTo>
                    <a:pt x="6705" y="1597728"/>
                    <a:pt x="0" y="1591023"/>
                    <a:pt x="0" y="1582752"/>
                  </a:cubicBezTo>
                  <a:lnTo>
                    <a:pt x="0" y="14976"/>
                  </a:lnTo>
                  <a:cubicBezTo>
                    <a:pt x="0" y="6705"/>
                    <a:pt x="6705" y="0"/>
                    <a:pt x="14976" y="0"/>
                  </a:cubicBezTo>
                  <a:close/>
                </a:path>
              </a:pathLst>
            </a:custGeom>
            <a:ln w="38100" cap="sq">
              <a:solidFill>
                <a:srgbClr val="AEB1B5"/>
              </a:solidFill>
              <a:prstDash val="solid"/>
              <a:miter/>
            </a:ln>
          </p:spPr>
        </p:sp>
        <p:sp>
          <p:nvSpPr>
            <p:cNvPr name="TextBox 20" id="20"/>
            <p:cNvSpPr txBox="true"/>
            <p:nvPr/>
          </p:nvSpPr>
          <p:spPr>
            <a:xfrm>
              <a:off x="0" y="-38100"/>
              <a:ext cx="2723007" cy="1635828"/>
            </a:xfrm>
            <a:prstGeom prst="rect">
              <a:avLst/>
            </a:prstGeom>
          </p:spPr>
          <p:txBody>
            <a:bodyPr anchor="ctr" rtlCol="false" tIns="50800" lIns="50800" bIns="50800" rIns="50800"/>
            <a:lstStyle/>
            <a:p>
              <a:pPr algn="ctr">
                <a:lnSpc>
                  <a:spcPts val="2329"/>
                </a:lnSpc>
              </a:pPr>
            </a:p>
          </p:txBody>
        </p:sp>
      </p:grpSp>
      <p:grpSp>
        <p:nvGrpSpPr>
          <p:cNvPr name="Group 21" id="21"/>
          <p:cNvGrpSpPr/>
          <p:nvPr/>
        </p:nvGrpSpPr>
        <p:grpSpPr>
          <a:xfrm rot="0">
            <a:off x="6891515" y="3169230"/>
            <a:ext cx="3041635" cy="684976"/>
            <a:chOff x="0" y="0"/>
            <a:chExt cx="801089" cy="180405"/>
          </a:xfrm>
        </p:grpSpPr>
        <p:sp>
          <p:nvSpPr>
            <p:cNvPr name="Freeform 22" id="22"/>
            <p:cNvSpPr/>
            <p:nvPr/>
          </p:nvSpPr>
          <p:spPr>
            <a:xfrm flipH="false" flipV="false" rot="0">
              <a:off x="0" y="0"/>
              <a:ext cx="801089" cy="180405"/>
            </a:xfrm>
            <a:custGeom>
              <a:avLst/>
              <a:gdLst/>
              <a:ahLst/>
              <a:cxnLst/>
              <a:rect r="r" b="b" t="t" l="l"/>
              <a:pathLst>
                <a:path h="180405" w="801089">
                  <a:moveTo>
                    <a:pt x="50906" y="0"/>
                  </a:moveTo>
                  <a:lnTo>
                    <a:pt x="750183" y="0"/>
                  </a:lnTo>
                  <a:cubicBezTo>
                    <a:pt x="778298" y="0"/>
                    <a:pt x="801089" y="22792"/>
                    <a:pt x="801089" y="50906"/>
                  </a:cubicBezTo>
                  <a:lnTo>
                    <a:pt x="801089" y="129499"/>
                  </a:lnTo>
                  <a:cubicBezTo>
                    <a:pt x="801089" y="143000"/>
                    <a:pt x="795726" y="155948"/>
                    <a:pt x="786179" y="165495"/>
                  </a:cubicBezTo>
                  <a:cubicBezTo>
                    <a:pt x="776632" y="175042"/>
                    <a:pt x="763684" y="180405"/>
                    <a:pt x="750183" y="180405"/>
                  </a:cubicBezTo>
                  <a:lnTo>
                    <a:pt x="50906" y="180405"/>
                  </a:lnTo>
                  <a:cubicBezTo>
                    <a:pt x="22792" y="180405"/>
                    <a:pt x="0" y="157614"/>
                    <a:pt x="0" y="129499"/>
                  </a:cubicBezTo>
                  <a:lnTo>
                    <a:pt x="0" y="50906"/>
                  </a:lnTo>
                  <a:cubicBezTo>
                    <a:pt x="0" y="22792"/>
                    <a:pt x="22792" y="0"/>
                    <a:pt x="50906" y="0"/>
                  </a:cubicBezTo>
                  <a:close/>
                </a:path>
              </a:pathLst>
            </a:custGeom>
            <a:solidFill>
              <a:srgbClr val="FFFFFF"/>
            </a:solidFill>
            <a:ln w="19050" cap="sq">
              <a:solidFill>
                <a:srgbClr val="000000"/>
              </a:solidFill>
              <a:prstDash val="solid"/>
              <a:miter/>
            </a:ln>
          </p:spPr>
        </p:sp>
        <p:sp>
          <p:nvSpPr>
            <p:cNvPr name="TextBox 23" id="23"/>
            <p:cNvSpPr txBox="true"/>
            <p:nvPr/>
          </p:nvSpPr>
          <p:spPr>
            <a:xfrm>
              <a:off x="0" y="-38100"/>
              <a:ext cx="801089" cy="218505"/>
            </a:xfrm>
            <a:prstGeom prst="rect">
              <a:avLst/>
            </a:prstGeom>
          </p:spPr>
          <p:txBody>
            <a:bodyPr anchor="ctr" rtlCol="false" tIns="50800" lIns="50800" bIns="50800" rIns="50800"/>
            <a:lstStyle/>
            <a:p>
              <a:pPr algn="ctr">
                <a:lnSpc>
                  <a:spcPts val="2329"/>
                </a:lnSpc>
              </a:pPr>
            </a:p>
          </p:txBody>
        </p:sp>
      </p:grpSp>
      <p:sp>
        <p:nvSpPr>
          <p:cNvPr name="TextBox 24" id="24"/>
          <p:cNvSpPr txBox="true"/>
          <p:nvPr/>
        </p:nvSpPr>
        <p:spPr>
          <a:xfrm rot="0">
            <a:off x="6983701" y="3336968"/>
            <a:ext cx="2857262" cy="306552"/>
          </a:xfrm>
          <a:prstGeom prst="rect">
            <a:avLst/>
          </a:prstGeom>
        </p:spPr>
        <p:txBody>
          <a:bodyPr anchor="t" rtlCol="false" tIns="0" lIns="0" bIns="0" rIns="0">
            <a:spAutoFit/>
          </a:bodyPr>
          <a:lstStyle/>
          <a:p>
            <a:pPr algn="ctr">
              <a:lnSpc>
                <a:spcPts val="2617"/>
              </a:lnSpc>
              <a:spcBef>
                <a:spcPct val="0"/>
              </a:spcBef>
            </a:pPr>
            <a:r>
              <a:rPr lang="en-US" b="true" sz="1817">
                <a:solidFill>
                  <a:srgbClr val="06656B"/>
                </a:solidFill>
                <a:latin typeface="Open Sans 1 Bold"/>
                <a:ea typeface="Open Sans 1 Bold"/>
                <a:cs typeface="Open Sans 1 Bold"/>
                <a:sym typeface="Open Sans 1 Bold"/>
              </a:rPr>
              <a:t>Simulasi Filter Pencarian</a:t>
            </a:r>
          </a:p>
        </p:txBody>
      </p:sp>
      <p:grpSp>
        <p:nvGrpSpPr>
          <p:cNvPr name="Group 25" id="25"/>
          <p:cNvGrpSpPr/>
          <p:nvPr/>
        </p:nvGrpSpPr>
        <p:grpSpPr>
          <a:xfrm rot="0">
            <a:off x="6983701" y="4071319"/>
            <a:ext cx="4233861" cy="4507137"/>
            <a:chOff x="0" y="0"/>
            <a:chExt cx="1115091" cy="1187065"/>
          </a:xfrm>
        </p:grpSpPr>
        <p:sp>
          <p:nvSpPr>
            <p:cNvPr name="Freeform 26" id="26"/>
            <p:cNvSpPr/>
            <p:nvPr/>
          </p:nvSpPr>
          <p:spPr>
            <a:xfrm flipH="false" flipV="false" rot="0">
              <a:off x="0" y="0"/>
              <a:ext cx="1115091" cy="1187065"/>
            </a:xfrm>
            <a:custGeom>
              <a:avLst/>
              <a:gdLst/>
              <a:ahLst/>
              <a:cxnLst/>
              <a:rect r="r" b="b" t="t" l="l"/>
              <a:pathLst>
                <a:path h="1187065" w="1115091">
                  <a:moveTo>
                    <a:pt x="45714" y="0"/>
                  </a:moveTo>
                  <a:lnTo>
                    <a:pt x="1069377" y="0"/>
                  </a:lnTo>
                  <a:cubicBezTo>
                    <a:pt x="1094624" y="0"/>
                    <a:pt x="1115091" y="20467"/>
                    <a:pt x="1115091" y="45714"/>
                  </a:cubicBezTo>
                  <a:lnTo>
                    <a:pt x="1115091" y="1141351"/>
                  </a:lnTo>
                  <a:cubicBezTo>
                    <a:pt x="1115091" y="1153475"/>
                    <a:pt x="1110275" y="1165102"/>
                    <a:pt x="1101702" y="1173676"/>
                  </a:cubicBezTo>
                  <a:cubicBezTo>
                    <a:pt x="1093128" y="1182249"/>
                    <a:pt x="1081501" y="1187065"/>
                    <a:pt x="1069377" y="1187065"/>
                  </a:cubicBezTo>
                  <a:lnTo>
                    <a:pt x="45714" y="1187065"/>
                  </a:lnTo>
                  <a:cubicBezTo>
                    <a:pt x="20467" y="1187065"/>
                    <a:pt x="0" y="1166598"/>
                    <a:pt x="0" y="1141351"/>
                  </a:cubicBezTo>
                  <a:lnTo>
                    <a:pt x="0" y="45714"/>
                  </a:lnTo>
                  <a:cubicBezTo>
                    <a:pt x="0" y="20467"/>
                    <a:pt x="20467" y="0"/>
                    <a:pt x="45714" y="0"/>
                  </a:cubicBezTo>
                  <a:close/>
                </a:path>
              </a:pathLst>
            </a:custGeom>
            <a:gradFill rotWithShape="true">
              <a:gsLst>
                <a:gs pos="0">
                  <a:srgbClr val="A6A6A6">
                    <a:alpha val="20000"/>
                  </a:srgbClr>
                </a:gs>
                <a:gs pos="100000">
                  <a:srgbClr val="FFFFFF">
                    <a:alpha val="20000"/>
                  </a:srgbClr>
                </a:gs>
              </a:gsLst>
              <a:lin ang="0"/>
            </a:gradFill>
            <a:ln w="19050" cap="rnd">
              <a:solidFill>
                <a:srgbClr val="000000">
                  <a:alpha val="19608"/>
                </a:srgbClr>
              </a:solidFill>
              <a:prstDash val="solid"/>
              <a:round/>
            </a:ln>
          </p:spPr>
        </p:sp>
        <p:sp>
          <p:nvSpPr>
            <p:cNvPr name="TextBox 27" id="27"/>
            <p:cNvSpPr txBox="true"/>
            <p:nvPr/>
          </p:nvSpPr>
          <p:spPr>
            <a:xfrm>
              <a:off x="0" y="-38100"/>
              <a:ext cx="1115091" cy="1225165"/>
            </a:xfrm>
            <a:prstGeom prst="rect">
              <a:avLst/>
            </a:prstGeom>
          </p:spPr>
          <p:txBody>
            <a:bodyPr anchor="ctr" rtlCol="false" tIns="50800" lIns="50800" bIns="50800" rIns="50800"/>
            <a:lstStyle/>
            <a:p>
              <a:pPr algn="ctr">
                <a:lnSpc>
                  <a:spcPts val="2329"/>
                </a:lnSpc>
              </a:pPr>
            </a:p>
          </p:txBody>
        </p:sp>
      </p:grpSp>
      <p:sp>
        <p:nvSpPr>
          <p:cNvPr name="TextBox 28" id="28"/>
          <p:cNvSpPr txBox="true"/>
          <p:nvPr/>
        </p:nvSpPr>
        <p:spPr>
          <a:xfrm rot="0">
            <a:off x="7271665" y="4527673"/>
            <a:ext cx="920234" cy="357606"/>
          </a:xfrm>
          <a:prstGeom prst="rect">
            <a:avLst/>
          </a:prstGeom>
        </p:spPr>
        <p:txBody>
          <a:bodyPr anchor="t" rtlCol="false" tIns="0" lIns="0" bIns="0" rIns="0">
            <a:spAutoFit/>
          </a:bodyPr>
          <a:lstStyle/>
          <a:p>
            <a:pPr algn="ctr">
              <a:lnSpc>
                <a:spcPts val="2905"/>
              </a:lnSpc>
              <a:spcBef>
                <a:spcPct val="0"/>
              </a:spcBef>
            </a:pPr>
            <a:r>
              <a:rPr lang="en-US" sz="2017">
                <a:solidFill>
                  <a:srgbClr val="000000"/>
                </a:solidFill>
                <a:latin typeface="Open Sans 1"/>
                <a:ea typeface="Open Sans 1"/>
                <a:cs typeface="Open Sans 1"/>
                <a:sym typeface="Open Sans 1"/>
              </a:rPr>
              <a:t>Budget </a:t>
            </a:r>
          </a:p>
        </p:txBody>
      </p:sp>
      <p:sp>
        <p:nvSpPr>
          <p:cNvPr name="TextBox 29" id="29"/>
          <p:cNvSpPr txBox="true"/>
          <p:nvPr/>
        </p:nvSpPr>
        <p:spPr>
          <a:xfrm rot="0">
            <a:off x="7271665" y="5136401"/>
            <a:ext cx="972383" cy="357606"/>
          </a:xfrm>
          <a:prstGeom prst="rect">
            <a:avLst/>
          </a:prstGeom>
        </p:spPr>
        <p:txBody>
          <a:bodyPr anchor="t" rtlCol="false" tIns="0" lIns="0" bIns="0" rIns="0">
            <a:spAutoFit/>
          </a:bodyPr>
          <a:lstStyle/>
          <a:p>
            <a:pPr algn="ctr">
              <a:lnSpc>
                <a:spcPts val="2905"/>
              </a:lnSpc>
              <a:spcBef>
                <a:spcPct val="0"/>
              </a:spcBef>
            </a:pPr>
            <a:r>
              <a:rPr lang="en-US" sz="2017">
                <a:solidFill>
                  <a:srgbClr val="000000"/>
                </a:solidFill>
                <a:latin typeface="Open Sans 1"/>
                <a:ea typeface="Open Sans 1"/>
                <a:cs typeface="Open Sans 1"/>
                <a:sym typeface="Open Sans 1"/>
              </a:rPr>
              <a:t>Kampus</a:t>
            </a:r>
          </a:p>
        </p:txBody>
      </p:sp>
      <p:sp>
        <p:nvSpPr>
          <p:cNvPr name="TextBox 30" id="30"/>
          <p:cNvSpPr txBox="true"/>
          <p:nvPr/>
        </p:nvSpPr>
        <p:spPr>
          <a:xfrm rot="0">
            <a:off x="7297502" y="5764418"/>
            <a:ext cx="946547" cy="357606"/>
          </a:xfrm>
          <a:prstGeom prst="rect">
            <a:avLst/>
          </a:prstGeom>
        </p:spPr>
        <p:txBody>
          <a:bodyPr anchor="t" rtlCol="false" tIns="0" lIns="0" bIns="0" rIns="0">
            <a:spAutoFit/>
          </a:bodyPr>
          <a:lstStyle/>
          <a:p>
            <a:pPr algn="ctr">
              <a:lnSpc>
                <a:spcPts val="2905"/>
              </a:lnSpc>
              <a:spcBef>
                <a:spcPct val="0"/>
              </a:spcBef>
            </a:pPr>
            <a:r>
              <a:rPr lang="en-US" sz="2017">
                <a:solidFill>
                  <a:srgbClr val="000000"/>
                </a:solidFill>
                <a:latin typeface="Open Sans 1"/>
                <a:ea typeface="Open Sans 1"/>
                <a:cs typeface="Open Sans 1"/>
                <a:sym typeface="Open Sans 1"/>
              </a:rPr>
              <a:t>Fasilitas</a:t>
            </a:r>
          </a:p>
        </p:txBody>
      </p:sp>
      <p:sp>
        <p:nvSpPr>
          <p:cNvPr name="TextBox 31" id="31"/>
          <p:cNvSpPr txBox="true"/>
          <p:nvPr/>
        </p:nvSpPr>
        <p:spPr>
          <a:xfrm rot="0">
            <a:off x="7297502" y="6317800"/>
            <a:ext cx="1097399" cy="357606"/>
          </a:xfrm>
          <a:prstGeom prst="rect">
            <a:avLst/>
          </a:prstGeom>
        </p:spPr>
        <p:txBody>
          <a:bodyPr anchor="t" rtlCol="false" tIns="0" lIns="0" bIns="0" rIns="0">
            <a:spAutoFit/>
          </a:bodyPr>
          <a:lstStyle/>
          <a:p>
            <a:pPr algn="ctr">
              <a:lnSpc>
                <a:spcPts val="2905"/>
              </a:lnSpc>
              <a:spcBef>
                <a:spcPct val="0"/>
              </a:spcBef>
            </a:pPr>
            <a:r>
              <a:rPr lang="en-US" sz="2017">
                <a:solidFill>
                  <a:srgbClr val="000000"/>
                </a:solidFill>
                <a:latin typeface="Open Sans 1"/>
                <a:ea typeface="Open Sans 1"/>
                <a:cs typeface="Open Sans 1"/>
                <a:sym typeface="Open Sans 1"/>
              </a:rPr>
              <a:t>Tipe Kost</a:t>
            </a:r>
          </a:p>
        </p:txBody>
      </p:sp>
      <p:sp>
        <p:nvSpPr>
          <p:cNvPr name="TextBox 32" id="32"/>
          <p:cNvSpPr txBox="true"/>
          <p:nvPr/>
        </p:nvSpPr>
        <p:spPr>
          <a:xfrm rot="0">
            <a:off x="7146579" y="6868455"/>
            <a:ext cx="1265753" cy="332079"/>
          </a:xfrm>
          <a:prstGeom prst="rect">
            <a:avLst/>
          </a:prstGeom>
        </p:spPr>
        <p:txBody>
          <a:bodyPr anchor="t" rtlCol="false" tIns="0" lIns="0" bIns="0" rIns="0">
            <a:spAutoFit/>
          </a:bodyPr>
          <a:lstStyle/>
          <a:p>
            <a:pPr algn="ctr">
              <a:lnSpc>
                <a:spcPts val="2761"/>
              </a:lnSpc>
              <a:spcBef>
                <a:spcPct val="0"/>
              </a:spcBef>
            </a:pPr>
            <a:r>
              <a:rPr lang="en-US" sz="1917">
                <a:solidFill>
                  <a:srgbClr val="000000"/>
                </a:solidFill>
                <a:latin typeface="Open Sans 1"/>
                <a:ea typeface="Open Sans 1"/>
                <a:cs typeface="Open Sans 1"/>
                <a:sym typeface="Open Sans 1"/>
              </a:rPr>
              <a:t>Jam Malam</a:t>
            </a:r>
          </a:p>
        </p:txBody>
      </p:sp>
      <p:sp>
        <p:nvSpPr>
          <p:cNvPr name="TextBox 33" id="33"/>
          <p:cNvSpPr txBox="true"/>
          <p:nvPr/>
        </p:nvSpPr>
        <p:spPr>
          <a:xfrm rot="0">
            <a:off x="7402098" y="7381509"/>
            <a:ext cx="659368" cy="357606"/>
          </a:xfrm>
          <a:prstGeom prst="rect">
            <a:avLst/>
          </a:prstGeom>
        </p:spPr>
        <p:txBody>
          <a:bodyPr anchor="t" rtlCol="false" tIns="0" lIns="0" bIns="0" rIns="0">
            <a:spAutoFit/>
          </a:bodyPr>
          <a:lstStyle/>
          <a:p>
            <a:pPr algn="ctr">
              <a:lnSpc>
                <a:spcPts val="2905"/>
              </a:lnSpc>
              <a:spcBef>
                <a:spcPct val="0"/>
              </a:spcBef>
            </a:pPr>
            <a:r>
              <a:rPr lang="en-US" sz="2017">
                <a:solidFill>
                  <a:srgbClr val="000000"/>
                </a:solidFill>
                <a:latin typeface="Open Sans 1"/>
                <a:ea typeface="Open Sans 1"/>
                <a:cs typeface="Open Sans 1"/>
                <a:sym typeface="Open Sans 1"/>
              </a:rPr>
              <a:t>Jarak </a:t>
            </a:r>
          </a:p>
        </p:txBody>
      </p:sp>
      <p:grpSp>
        <p:nvGrpSpPr>
          <p:cNvPr name="Group 34" id="34"/>
          <p:cNvGrpSpPr/>
          <p:nvPr/>
        </p:nvGrpSpPr>
        <p:grpSpPr>
          <a:xfrm rot="0">
            <a:off x="8473780" y="4534772"/>
            <a:ext cx="2634559" cy="400558"/>
            <a:chOff x="0" y="0"/>
            <a:chExt cx="693876" cy="105497"/>
          </a:xfrm>
        </p:grpSpPr>
        <p:sp>
          <p:nvSpPr>
            <p:cNvPr name="Freeform 35" id="35"/>
            <p:cNvSpPr/>
            <p:nvPr/>
          </p:nvSpPr>
          <p:spPr>
            <a:xfrm flipH="false" flipV="false" rot="0">
              <a:off x="0" y="0"/>
              <a:ext cx="693876" cy="105497"/>
            </a:xfrm>
            <a:custGeom>
              <a:avLst/>
              <a:gdLst/>
              <a:ahLst/>
              <a:cxnLst/>
              <a:rect r="r" b="b" t="t" l="l"/>
              <a:pathLst>
                <a:path h="105497" w="693876">
                  <a:moveTo>
                    <a:pt x="49956" y="0"/>
                  </a:moveTo>
                  <a:lnTo>
                    <a:pt x="643919" y="0"/>
                  </a:lnTo>
                  <a:cubicBezTo>
                    <a:pt x="657169" y="0"/>
                    <a:pt x="669875" y="5263"/>
                    <a:pt x="679244" y="14632"/>
                  </a:cubicBezTo>
                  <a:cubicBezTo>
                    <a:pt x="688612" y="24000"/>
                    <a:pt x="693876" y="36707"/>
                    <a:pt x="693876" y="49956"/>
                  </a:cubicBezTo>
                  <a:lnTo>
                    <a:pt x="693876" y="55541"/>
                  </a:lnTo>
                  <a:cubicBezTo>
                    <a:pt x="693876" y="68790"/>
                    <a:pt x="688612" y="81496"/>
                    <a:pt x="679244" y="90865"/>
                  </a:cubicBezTo>
                  <a:cubicBezTo>
                    <a:pt x="669875" y="100234"/>
                    <a:pt x="657169" y="105497"/>
                    <a:pt x="643919" y="105497"/>
                  </a:cubicBezTo>
                  <a:lnTo>
                    <a:pt x="49956" y="105497"/>
                  </a:lnTo>
                  <a:cubicBezTo>
                    <a:pt x="36707" y="105497"/>
                    <a:pt x="24000" y="100234"/>
                    <a:pt x="14632" y="90865"/>
                  </a:cubicBezTo>
                  <a:cubicBezTo>
                    <a:pt x="5263" y="81496"/>
                    <a:pt x="0" y="68790"/>
                    <a:pt x="0" y="55541"/>
                  </a:cubicBezTo>
                  <a:lnTo>
                    <a:pt x="0" y="49956"/>
                  </a:lnTo>
                  <a:cubicBezTo>
                    <a:pt x="0" y="36707"/>
                    <a:pt x="5263" y="24000"/>
                    <a:pt x="14632" y="14632"/>
                  </a:cubicBezTo>
                  <a:cubicBezTo>
                    <a:pt x="24000" y="5263"/>
                    <a:pt x="36707" y="0"/>
                    <a:pt x="49956" y="0"/>
                  </a:cubicBezTo>
                  <a:close/>
                </a:path>
              </a:pathLst>
            </a:custGeom>
            <a:ln w="9525" cap="sq">
              <a:solidFill>
                <a:srgbClr val="000000"/>
              </a:solidFill>
              <a:prstDash val="solid"/>
              <a:miter/>
            </a:ln>
          </p:spPr>
        </p:sp>
        <p:sp>
          <p:nvSpPr>
            <p:cNvPr name="TextBox 36" id="36"/>
            <p:cNvSpPr txBox="true"/>
            <p:nvPr/>
          </p:nvSpPr>
          <p:spPr>
            <a:xfrm>
              <a:off x="0" y="-38100"/>
              <a:ext cx="693876" cy="143597"/>
            </a:xfrm>
            <a:prstGeom prst="rect">
              <a:avLst/>
            </a:prstGeom>
          </p:spPr>
          <p:txBody>
            <a:bodyPr anchor="ctr" rtlCol="false" tIns="50800" lIns="50800" bIns="50800" rIns="50800"/>
            <a:lstStyle/>
            <a:p>
              <a:pPr algn="ctr">
                <a:lnSpc>
                  <a:spcPts val="2329"/>
                </a:lnSpc>
              </a:pPr>
            </a:p>
          </p:txBody>
        </p:sp>
      </p:grpSp>
      <p:sp>
        <p:nvSpPr>
          <p:cNvPr name="TextBox 37" id="37"/>
          <p:cNvSpPr txBox="true"/>
          <p:nvPr/>
        </p:nvSpPr>
        <p:spPr>
          <a:xfrm rot="0">
            <a:off x="8541677" y="4580251"/>
            <a:ext cx="2498765" cy="281024"/>
          </a:xfrm>
          <a:prstGeom prst="rect">
            <a:avLst/>
          </a:prstGeom>
        </p:spPr>
        <p:txBody>
          <a:bodyPr anchor="t" rtlCol="false" tIns="0" lIns="0" bIns="0" rIns="0">
            <a:spAutoFit/>
          </a:bodyPr>
          <a:lstStyle/>
          <a:p>
            <a:pPr algn="ctr">
              <a:lnSpc>
                <a:spcPts val="2473"/>
              </a:lnSpc>
              <a:spcBef>
                <a:spcPct val="0"/>
              </a:spcBef>
            </a:pPr>
            <a:r>
              <a:rPr lang="en-US" sz="1717">
                <a:solidFill>
                  <a:srgbClr val="000000"/>
                </a:solidFill>
                <a:latin typeface="Open Sans 1"/>
                <a:ea typeface="Open Sans 1"/>
                <a:cs typeface="Open Sans 1"/>
                <a:sym typeface="Open Sans 1"/>
              </a:rPr>
              <a:t>Rp 500,000 - Rp 900,000 </a:t>
            </a:r>
          </a:p>
        </p:txBody>
      </p:sp>
      <p:grpSp>
        <p:nvGrpSpPr>
          <p:cNvPr name="Group 38" id="38"/>
          <p:cNvGrpSpPr/>
          <p:nvPr/>
        </p:nvGrpSpPr>
        <p:grpSpPr>
          <a:xfrm rot="0">
            <a:off x="8473780" y="5143500"/>
            <a:ext cx="2634559" cy="400558"/>
            <a:chOff x="0" y="0"/>
            <a:chExt cx="693876" cy="105497"/>
          </a:xfrm>
        </p:grpSpPr>
        <p:sp>
          <p:nvSpPr>
            <p:cNvPr name="Freeform 39" id="39"/>
            <p:cNvSpPr/>
            <p:nvPr/>
          </p:nvSpPr>
          <p:spPr>
            <a:xfrm flipH="false" flipV="false" rot="0">
              <a:off x="0" y="0"/>
              <a:ext cx="693876" cy="105497"/>
            </a:xfrm>
            <a:custGeom>
              <a:avLst/>
              <a:gdLst/>
              <a:ahLst/>
              <a:cxnLst/>
              <a:rect r="r" b="b" t="t" l="l"/>
              <a:pathLst>
                <a:path h="105497" w="693876">
                  <a:moveTo>
                    <a:pt x="49956" y="0"/>
                  </a:moveTo>
                  <a:lnTo>
                    <a:pt x="643919" y="0"/>
                  </a:lnTo>
                  <a:cubicBezTo>
                    <a:pt x="657169" y="0"/>
                    <a:pt x="669875" y="5263"/>
                    <a:pt x="679244" y="14632"/>
                  </a:cubicBezTo>
                  <a:cubicBezTo>
                    <a:pt x="688612" y="24000"/>
                    <a:pt x="693876" y="36707"/>
                    <a:pt x="693876" y="49956"/>
                  </a:cubicBezTo>
                  <a:lnTo>
                    <a:pt x="693876" y="55541"/>
                  </a:lnTo>
                  <a:cubicBezTo>
                    <a:pt x="693876" y="68790"/>
                    <a:pt x="688612" y="81496"/>
                    <a:pt x="679244" y="90865"/>
                  </a:cubicBezTo>
                  <a:cubicBezTo>
                    <a:pt x="669875" y="100234"/>
                    <a:pt x="657169" y="105497"/>
                    <a:pt x="643919" y="105497"/>
                  </a:cubicBezTo>
                  <a:lnTo>
                    <a:pt x="49956" y="105497"/>
                  </a:lnTo>
                  <a:cubicBezTo>
                    <a:pt x="36707" y="105497"/>
                    <a:pt x="24000" y="100234"/>
                    <a:pt x="14632" y="90865"/>
                  </a:cubicBezTo>
                  <a:cubicBezTo>
                    <a:pt x="5263" y="81496"/>
                    <a:pt x="0" y="68790"/>
                    <a:pt x="0" y="55541"/>
                  </a:cubicBezTo>
                  <a:lnTo>
                    <a:pt x="0" y="49956"/>
                  </a:lnTo>
                  <a:cubicBezTo>
                    <a:pt x="0" y="36707"/>
                    <a:pt x="5263" y="24000"/>
                    <a:pt x="14632" y="14632"/>
                  </a:cubicBezTo>
                  <a:cubicBezTo>
                    <a:pt x="24000" y="5263"/>
                    <a:pt x="36707" y="0"/>
                    <a:pt x="49956" y="0"/>
                  </a:cubicBezTo>
                  <a:close/>
                </a:path>
              </a:pathLst>
            </a:custGeom>
            <a:ln w="9525" cap="sq">
              <a:solidFill>
                <a:srgbClr val="000000"/>
              </a:solidFill>
              <a:prstDash val="solid"/>
              <a:miter/>
            </a:ln>
          </p:spPr>
        </p:sp>
        <p:sp>
          <p:nvSpPr>
            <p:cNvPr name="TextBox 40" id="40"/>
            <p:cNvSpPr txBox="true"/>
            <p:nvPr/>
          </p:nvSpPr>
          <p:spPr>
            <a:xfrm>
              <a:off x="0" y="-38100"/>
              <a:ext cx="693876" cy="143597"/>
            </a:xfrm>
            <a:prstGeom prst="rect">
              <a:avLst/>
            </a:prstGeom>
          </p:spPr>
          <p:txBody>
            <a:bodyPr anchor="ctr" rtlCol="false" tIns="50800" lIns="50800" bIns="50800" rIns="50800"/>
            <a:lstStyle/>
            <a:p>
              <a:pPr algn="ctr">
                <a:lnSpc>
                  <a:spcPts val="2329"/>
                </a:lnSpc>
              </a:pPr>
            </a:p>
          </p:txBody>
        </p:sp>
      </p:grpSp>
      <p:sp>
        <p:nvSpPr>
          <p:cNvPr name="TextBox 41" id="41"/>
          <p:cNvSpPr txBox="true"/>
          <p:nvPr/>
        </p:nvSpPr>
        <p:spPr>
          <a:xfrm rot="0">
            <a:off x="9450569" y="5188979"/>
            <a:ext cx="511135" cy="281024"/>
          </a:xfrm>
          <a:prstGeom prst="rect">
            <a:avLst/>
          </a:prstGeom>
        </p:spPr>
        <p:txBody>
          <a:bodyPr anchor="t" rtlCol="false" tIns="0" lIns="0" bIns="0" rIns="0">
            <a:spAutoFit/>
          </a:bodyPr>
          <a:lstStyle/>
          <a:p>
            <a:pPr algn="ctr">
              <a:lnSpc>
                <a:spcPts val="2473"/>
              </a:lnSpc>
              <a:spcBef>
                <a:spcPct val="0"/>
              </a:spcBef>
            </a:pPr>
            <a:r>
              <a:rPr lang="en-US" sz="1717">
                <a:solidFill>
                  <a:srgbClr val="000000"/>
                </a:solidFill>
                <a:latin typeface="Open Sans 1"/>
                <a:ea typeface="Open Sans 1"/>
                <a:cs typeface="Open Sans 1"/>
                <a:sym typeface="Open Sans 1"/>
              </a:rPr>
              <a:t>UPN </a:t>
            </a:r>
          </a:p>
        </p:txBody>
      </p:sp>
      <p:grpSp>
        <p:nvGrpSpPr>
          <p:cNvPr name="Group 42" id="42"/>
          <p:cNvGrpSpPr/>
          <p:nvPr/>
        </p:nvGrpSpPr>
        <p:grpSpPr>
          <a:xfrm rot="0">
            <a:off x="8473780" y="5728816"/>
            <a:ext cx="2634559" cy="400558"/>
            <a:chOff x="0" y="0"/>
            <a:chExt cx="693876" cy="105497"/>
          </a:xfrm>
        </p:grpSpPr>
        <p:sp>
          <p:nvSpPr>
            <p:cNvPr name="Freeform 43" id="43"/>
            <p:cNvSpPr/>
            <p:nvPr/>
          </p:nvSpPr>
          <p:spPr>
            <a:xfrm flipH="false" flipV="false" rot="0">
              <a:off x="0" y="0"/>
              <a:ext cx="693876" cy="105497"/>
            </a:xfrm>
            <a:custGeom>
              <a:avLst/>
              <a:gdLst/>
              <a:ahLst/>
              <a:cxnLst/>
              <a:rect r="r" b="b" t="t" l="l"/>
              <a:pathLst>
                <a:path h="105497" w="693876">
                  <a:moveTo>
                    <a:pt x="49956" y="0"/>
                  </a:moveTo>
                  <a:lnTo>
                    <a:pt x="643919" y="0"/>
                  </a:lnTo>
                  <a:cubicBezTo>
                    <a:pt x="657169" y="0"/>
                    <a:pt x="669875" y="5263"/>
                    <a:pt x="679244" y="14632"/>
                  </a:cubicBezTo>
                  <a:cubicBezTo>
                    <a:pt x="688612" y="24000"/>
                    <a:pt x="693876" y="36707"/>
                    <a:pt x="693876" y="49956"/>
                  </a:cubicBezTo>
                  <a:lnTo>
                    <a:pt x="693876" y="55541"/>
                  </a:lnTo>
                  <a:cubicBezTo>
                    <a:pt x="693876" y="68790"/>
                    <a:pt x="688612" y="81496"/>
                    <a:pt x="679244" y="90865"/>
                  </a:cubicBezTo>
                  <a:cubicBezTo>
                    <a:pt x="669875" y="100234"/>
                    <a:pt x="657169" y="105497"/>
                    <a:pt x="643919" y="105497"/>
                  </a:cubicBezTo>
                  <a:lnTo>
                    <a:pt x="49956" y="105497"/>
                  </a:lnTo>
                  <a:cubicBezTo>
                    <a:pt x="36707" y="105497"/>
                    <a:pt x="24000" y="100234"/>
                    <a:pt x="14632" y="90865"/>
                  </a:cubicBezTo>
                  <a:cubicBezTo>
                    <a:pt x="5263" y="81496"/>
                    <a:pt x="0" y="68790"/>
                    <a:pt x="0" y="55541"/>
                  </a:cubicBezTo>
                  <a:lnTo>
                    <a:pt x="0" y="49956"/>
                  </a:lnTo>
                  <a:cubicBezTo>
                    <a:pt x="0" y="36707"/>
                    <a:pt x="5263" y="24000"/>
                    <a:pt x="14632" y="14632"/>
                  </a:cubicBezTo>
                  <a:cubicBezTo>
                    <a:pt x="24000" y="5263"/>
                    <a:pt x="36707" y="0"/>
                    <a:pt x="49956" y="0"/>
                  </a:cubicBezTo>
                  <a:close/>
                </a:path>
              </a:pathLst>
            </a:custGeom>
            <a:ln w="9525" cap="sq">
              <a:solidFill>
                <a:srgbClr val="000000"/>
              </a:solidFill>
              <a:prstDash val="solid"/>
              <a:miter/>
            </a:ln>
          </p:spPr>
        </p:sp>
        <p:sp>
          <p:nvSpPr>
            <p:cNvPr name="TextBox 44" id="44"/>
            <p:cNvSpPr txBox="true"/>
            <p:nvPr/>
          </p:nvSpPr>
          <p:spPr>
            <a:xfrm>
              <a:off x="0" y="-38100"/>
              <a:ext cx="693876" cy="143597"/>
            </a:xfrm>
            <a:prstGeom prst="rect">
              <a:avLst/>
            </a:prstGeom>
          </p:spPr>
          <p:txBody>
            <a:bodyPr anchor="ctr" rtlCol="false" tIns="50800" lIns="50800" bIns="50800" rIns="50800"/>
            <a:lstStyle/>
            <a:p>
              <a:pPr algn="ctr">
                <a:lnSpc>
                  <a:spcPts val="2329"/>
                </a:lnSpc>
              </a:pPr>
            </a:p>
          </p:txBody>
        </p:sp>
      </p:grpSp>
      <p:sp>
        <p:nvSpPr>
          <p:cNvPr name="TextBox 45" id="45"/>
          <p:cNvSpPr txBox="true"/>
          <p:nvPr/>
        </p:nvSpPr>
        <p:spPr>
          <a:xfrm rot="0">
            <a:off x="8886867" y="5774296"/>
            <a:ext cx="1638538" cy="281024"/>
          </a:xfrm>
          <a:prstGeom prst="rect">
            <a:avLst/>
          </a:prstGeom>
        </p:spPr>
        <p:txBody>
          <a:bodyPr anchor="t" rtlCol="false" tIns="0" lIns="0" bIns="0" rIns="0">
            <a:spAutoFit/>
          </a:bodyPr>
          <a:lstStyle/>
          <a:p>
            <a:pPr algn="ctr">
              <a:lnSpc>
                <a:spcPts val="2473"/>
              </a:lnSpc>
              <a:spcBef>
                <a:spcPct val="0"/>
              </a:spcBef>
            </a:pPr>
            <a:r>
              <a:rPr lang="en-US" sz="1717">
                <a:solidFill>
                  <a:srgbClr val="000000"/>
                </a:solidFill>
                <a:latin typeface="Open Sans 1"/>
                <a:ea typeface="Open Sans 1"/>
                <a:cs typeface="Open Sans 1"/>
                <a:sym typeface="Open Sans 1"/>
              </a:rPr>
              <a:t>KM  Dalam/Luar</a:t>
            </a:r>
          </a:p>
        </p:txBody>
      </p:sp>
      <p:grpSp>
        <p:nvGrpSpPr>
          <p:cNvPr name="Group 46" id="46"/>
          <p:cNvGrpSpPr/>
          <p:nvPr/>
        </p:nvGrpSpPr>
        <p:grpSpPr>
          <a:xfrm rot="0">
            <a:off x="8473780" y="6300896"/>
            <a:ext cx="2634559" cy="400558"/>
            <a:chOff x="0" y="0"/>
            <a:chExt cx="693876" cy="105497"/>
          </a:xfrm>
        </p:grpSpPr>
        <p:sp>
          <p:nvSpPr>
            <p:cNvPr name="Freeform 47" id="47"/>
            <p:cNvSpPr/>
            <p:nvPr/>
          </p:nvSpPr>
          <p:spPr>
            <a:xfrm flipH="false" flipV="false" rot="0">
              <a:off x="0" y="0"/>
              <a:ext cx="693876" cy="105497"/>
            </a:xfrm>
            <a:custGeom>
              <a:avLst/>
              <a:gdLst/>
              <a:ahLst/>
              <a:cxnLst/>
              <a:rect r="r" b="b" t="t" l="l"/>
              <a:pathLst>
                <a:path h="105497" w="693876">
                  <a:moveTo>
                    <a:pt x="49956" y="0"/>
                  </a:moveTo>
                  <a:lnTo>
                    <a:pt x="643919" y="0"/>
                  </a:lnTo>
                  <a:cubicBezTo>
                    <a:pt x="657169" y="0"/>
                    <a:pt x="669875" y="5263"/>
                    <a:pt x="679244" y="14632"/>
                  </a:cubicBezTo>
                  <a:cubicBezTo>
                    <a:pt x="688612" y="24000"/>
                    <a:pt x="693876" y="36707"/>
                    <a:pt x="693876" y="49956"/>
                  </a:cubicBezTo>
                  <a:lnTo>
                    <a:pt x="693876" y="55541"/>
                  </a:lnTo>
                  <a:cubicBezTo>
                    <a:pt x="693876" y="68790"/>
                    <a:pt x="688612" y="81496"/>
                    <a:pt x="679244" y="90865"/>
                  </a:cubicBezTo>
                  <a:cubicBezTo>
                    <a:pt x="669875" y="100234"/>
                    <a:pt x="657169" y="105497"/>
                    <a:pt x="643919" y="105497"/>
                  </a:cubicBezTo>
                  <a:lnTo>
                    <a:pt x="49956" y="105497"/>
                  </a:lnTo>
                  <a:cubicBezTo>
                    <a:pt x="36707" y="105497"/>
                    <a:pt x="24000" y="100234"/>
                    <a:pt x="14632" y="90865"/>
                  </a:cubicBezTo>
                  <a:cubicBezTo>
                    <a:pt x="5263" y="81496"/>
                    <a:pt x="0" y="68790"/>
                    <a:pt x="0" y="55541"/>
                  </a:cubicBezTo>
                  <a:lnTo>
                    <a:pt x="0" y="49956"/>
                  </a:lnTo>
                  <a:cubicBezTo>
                    <a:pt x="0" y="36707"/>
                    <a:pt x="5263" y="24000"/>
                    <a:pt x="14632" y="14632"/>
                  </a:cubicBezTo>
                  <a:cubicBezTo>
                    <a:pt x="24000" y="5263"/>
                    <a:pt x="36707" y="0"/>
                    <a:pt x="49956" y="0"/>
                  </a:cubicBezTo>
                  <a:close/>
                </a:path>
              </a:pathLst>
            </a:custGeom>
            <a:ln w="9525" cap="sq">
              <a:solidFill>
                <a:srgbClr val="000000"/>
              </a:solidFill>
              <a:prstDash val="solid"/>
              <a:miter/>
            </a:ln>
          </p:spPr>
        </p:sp>
        <p:sp>
          <p:nvSpPr>
            <p:cNvPr name="TextBox 48" id="48"/>
            <p:cNvSpPr txBox="true"/>
            <p:nvPr/>
          </p:nvSpPr>
          <p:spPr>
            <a:xfrm>
              <a:off x="0" y="-38100"/>
              <a:ext cx="693876" cy="143597"/>
            </a:xfrm>
            <a:prstGeom prst="rect">
              <a:avLst/>
            </a:prstGeom>
          </p:spPr>
          <p:txBody>
            <a:bodyPr anchor="ctr" rtlCol="false" tIns="50800" lIns="50800" bIns="50800" rIns="50800"/>
            <a:lstStyle/>
            <a:p>
              <a:pPr algn="ctr">
                <a:lnSpc>
                  <a:spcPts val="2329"/>
                </a:lnSpc>
              </a:pPr>
            </a:p>
          </p:txBody>
        </p:sp>
      </p:grpSp>
      <p:sp>
        <p:nvSpPr>
          <p:cNvPr name="TextBox 49" id="49"/>
          <p:cNvSpPr txBox="true"/>
          <p:nvPr/>
        </p:nvSpPr>
        <p:spPr>
          <a:xfrm rot="0">
            <a:off x="8684611" y="6346375"/>
            <a:ext cx="2212896" cy="281024"/>
          </a:xfrm>
          <a:prstGeom prst="rect">
            <a:avLst/>
          </a:prstGeom>
        </p:spPr>
        <p:txBody>
          <a:bodyPr anchor="t" rtlCol="false" tIns="0" lIns="0" bIns="0" rIns="0">
            <a:spAutoFit/>
          </a:bodyPr>
          <a:lstStyle/>
          <a:p>
            <a:pPr algn="ctr">
              <a:lnSpc>
                <a:spcPts val="2473"/>
              </a:lnSpc>
              <a:spcBef>
                <a:spcPct val="0"/>
              </a:spcBef>
            </a:pPr>
            <a:r>
              <a:rPr lang="en-US" sz="1717">
                <a:solidFill>
                  <a:srgbClr val="000000"/>
                </a:solidFill>
                <a:latin typeface="Open Sans 1"/>
                <a:ea typeface="Open Sans 1"/>
                <a:cs typeface="Open Sans 1"/>
                <a:sym typeface="Open Sans 1"/>
              </a:rPr>
              <a:t>Campur/Non-Campur</a:t>
            </a:r>
          </a:p>
        </p:txBody>
      </p:sp>
      <p:grpSp>
        <p:nvGrpSpPr>
          <p:cNvPr name="Group 50" id="50"/>
          <p:cNvGrpSpPr/>
          <p:nvPr/>
        </p:nvGrpSpPr>
        <p:grpSpPr>
          <a:xfrm rot="0">
            <a:off x="8473780" y="6872904"/>
            <a:ext cx="2634559" cy="400558"/>
            <a:chOff x="0" y="0"/>
            <a:chExt cx="693876" cy="105497"/>
          </a:xfrm>
        </p:grpSpPr>
        <p:sp>
          <p:nvSpPr>
            <p:cNvPr name="Freeform 51" id="51"/>
            <p:cNvSpPr/>
            <p:nvPr/>
          </p:nvSpPr>
          <p:spPr>
            <a:xfrm flipH="false" flipV="false" rot="0">
              <a:off x="0" y="0"/>
              <a:ext cx="693876" cy="105497"/>
            </a:xfrm>
            <a:custGeom>
              <a:avLst/>
              <a:gdLst/>
              <a:ahLst/>
              <a:cxnLst/>
              <a:rect r="r" b="b" t="t" l="l"/>
              <a:pathLst>
                <a:path h="105497" w="693876">
                  <a:moveTo>
                    <a:pt x="49956" y="0"/>
                  </a:moveTo>
                  <a:lnTo>
                    <a:pt x="643919" y="0"/>
                  </a:lnTo>
                  <a:cubicBezTo>
                    <a:pt x="657169" y="0"/>
                    <a:pt x="669875" y="5263"/>
                    <a:pt x="679244" y="14632"/>
                  </a:cubicBezTo>
                  <a:cubicBezTo>
                    <a:pt x="688612" y="24000"/>
                    <a:pt x="693876" y="36707"/>
                    <a:pt x="693876" y="49956"/>
                  </a:cubicBezTo>
                  <a:lnTo>
                    <a:pt x="693876" y="55541"/>
                  </a:lnTo>
                  <a:cubicBezTo>
                    <a:pt x="693876" y="68790"/>
                    <a:pt x="688612" y="81496"/>
                    <a:pt x="679244" y="90865"/>
                  </a:cubicBezTo>
                  <a:cubicBezTo>
                    <a:pt x="669875" y="100234"/>
                    <a:pt x="657169" y="105497"/>
                    <a:pt x="643919" y="105497"/>
                  </a:cubicBezTo>
                  <a:lnTo>
                    <a:pt x="49956" y="105497"/>
                  </a:lnTo>
                  <a:cubicBezTo>
                    <a:pt x="36707" y="105497"/>
                    <a:pt x="24000" y="100234"/>
                    <a:pt x="14632" y="90865"/>
                  </a:cubicBezTo>
                  <a:cubicBezTo>
                    <a:pt x="5263" y="81496"/>
                    <a:pt x="0" y="68790"/>
                    <a:pt x="0" y="55541"/>
                  </a:cubicBezTo>
                  <a:lnTo>
                    <a:pt x="0" y="49956"/>
                  </a:lnTo>
                  <a:cubicBezTo>
                    <a:pt x="0" y="36707"/>
                    <a:pt x="5263" y="24000"/>
                    <a:pt x="14632" y="14632"/>
                  </a:cubicBezTo>
                  <a:cubicBezTo>
                    <a:pt x="24000" y="5263"/>
                    <a:pt x="36707" y="0"/>
                    <a:pt x="49956" y="0"/>
                  </a:cubicBezTo>
                  <a:close/>
                </a:path>
              </a:pathLst>
            </a:custGeom>
            <a:ln w="9525" cap="sq">
              <a:solidFill>
                <a:srgbClr val="000000"/>
              </a:solidFill>
              <a:prstDash val="solid"/>
              <a:miter/>
            </a:ln>
          </p:spPr>
        </p:sp>
        <p:sp>
          <p:nvSpPr>
            <p:cNvPr name="TextBox 52" id="52"/>
            <p:cNvSpPr txBox="true"/>
            <p:nvPr/>
          </p:nvSpPr>
          <p:spPr>
            <a:xfrm>
              <a:off x="0" y="-38100"/>
              <a:ext cx="693876" cy="143597"/>
            </a:xfrm>
            <a:prstGeom prst="rect">
              <a:avLst/>
            </a:prstGeom>
          </p:spPr>
          <p:txBody>
            <a:bodyPr anchor="ctr" rtlCol="false" tIns="50800" lIns="50800" bIns="50800" rIns="50800"/>
            <a:lstStyle/>
            <a:p>
              <a:pPr algn="ctr">
                <a:lnSpc>
                  <a:spcPts val="2329"/>
                </a:lnSpc>
              </a:pPr>
            </a:p>
          </p:txBody>
        </p:sp>
      </p:grpSp>
      <p:sp>
        <p:nvSpPr>
          <p:cNvPr name="TextBox 53" id="53"/>
          <p:cNvSpPr txBox="true"/>
          <p:nvPr/>
        </p:nvSpPr>
        <p:spPr>
          <a:xfrm rot="0">
            <a:off x="9509862" y="6930054"/>
            <a:ext cx="392549" cy="281024"/>
          </a:xfrm>
          <a:prstGeom prst="rect">
            <a:avLst/>
          </a:prstGeom>
        </p:spPr>
        <p:txBody>
          <a:bodyPr anchor="t" rtlCol="false" tIns="0" lIns="0" bIns="0" rIns="0">
            <a:spAutoFit/>
          </a:bodyPr>
          <a:lstStyle/>
          <a:p>
            <a:pPr algn="ctr">
              <a:lnSpc>
                <a:spcPts val="2473"/>
              </a:lnSpc>
              <a:spcBef>
                <a:spcPct val="0"/>
              </a:spcBef>
            </a:pPr>
            <a:r>
              <a:rPr lang="en-US" sz="1717">
                <a:solidFill>
                  <a:srgbClr val="000000"/>
                </a:solidFill>
                <a:latin typeface="Open Sans 1"/>
                <a:ea typeface="Open Sans 1"/>
                <a:cs typeface="Open Sans 1"/>
                <a:sym typeface="Open Sans 1"/>
              </a:rPr>
              <a:t>Ada</a:t>
            </a:r>
          </a:p>
        </p:txBody>
      </p:sp>
      <p:grpSp>
        <p:nvGrpSpPr>
          <p:cNvPr name="Group 54" id="54"/>
          <p:cNvGrpSpPr/>
          <p:nvPr/>
        </p:nvGrpSpPr>
        <p:grpSpPr>
          <a:xfrm rot="0">
            <a:off x="8473780" y="7444912"/>
            <a:ext cx="2634559" cy="400558"/>
            <a:chOff x="0" y="0"/>
            <a:chExt cx="693876" cy="105497"/>
          </a:xfrm>
        </p:grpSpPr>
        <p:sp>
          <p:nvSpPr>
            <p:cNvPr name="Freeform 55" id="55"/>
            <p:cNvSpPr/>
            <p:nvPr/>
          </p:nvSpPr>
          <p:spPr>
            <a:xfrm flipH="false" flipV="false" rot="0">
              <a:off x="0" y="0"/>
              <a:ext cx="693876" cy="105497"/>
            </a:xfrm>
            <a:custGeom>
              <a:avLst/>
              <a:gdLst/>
              <a:ahLst/>
              <a:cxnLst/>
              <a:rect r="r" b="b" t="t" l="l"/>
              <a:pathLst>
                <a:path h="105497" w="693876">
                  <a:moveTo>
                    <a:pt x="49956" y="0"/>
                  </a:moveTo>
                  <a:lnTo>
                    <a:pt x="643919" y="0"/>
                  </a:lnTo>
                  <a:cubicBezTo>
                    <a:pt x="657169" y="0"/>
                    <a:pt x="669875" y="5263"/>
                    <a:pt x="679244" y="14632"/>
                  </a:cubicBezTo>
                  <a:cubicBezTo>
                    <a:pt x="688612" y="24000"/>
                    <a:pt x="693876" y="36707"/>
                    <a:pt x="693876" y="49956"/>
                  </a:cubicBezTo>
                  <a:lnTo>
                    <a:pt x="693876" y="55541"/>
                  </a:lnTo>
                  <a:cubicBezTo>
                    <a:pt x="693876" y="68790"/>
                    <a:pt x="688612" y="81496"/>
                    <a:pt x="679244" y="90865"/>
                  </a:cubicBezTo>
                  <a:cubicBezTo>
                    <a:pt x="669875" y="100234"/>
                    <a:pt x="657169" y="105497"/>
                    <a:pt x="643919" y="105497"/>
                  </a:cubicBezTo>
                  <a:lnTo>
                    <a:pt x="49956" y="105497"/>
                  </a:lnTo>
                  <a:cubicBezTo>
                    <a:pt x="36707" y="105497"/>
                    <a:pt x="24000" y="100234"/>
                    <a:pt x="14632" y="90865"/>
                  </a:cubicBezTo>
                  <a:cubicBezTo>
                    <a:pt x="5263" y="81496"/>
                    <a:pt x="0" y="68790"/>
                    <a:pt x="0" y="55541"/>
                  </a:cubicBezTo>
                  <a:lnTo>
                    <a:pt x="0" y="49956"/>
                  </a:lnTo>
                  <a:cubicBezTo>
                    <a:pt x="0" y="36707"/>
                    <a:pt x="5263" y="24000"/>
                    <a:pt x="14632" y="14632"/>
                  </a:cubicBezTo>
                  <a:cubicBezTo>
                    <a:pt x="24000" y="5263"/>
                    <a:pt x="36707" y="0"/>
                    <a:pt x="49956" y="0"/>
                  </a:cubicBezTo>
                  <a:close/>
                </a:path>
              </a:pathLst>
            </a:custGeom>
            <a:ln w="9525" cap="sq">
              <a:solidFill>
                <a:srgbClr val="000000"/>
              </a:solidFill>
              <a:prstDash val="solid"/>
              <a:miter/>
            </a:ln>
          </p:spPr>
        </p:sp>
        <p:sp>
          <p:nvSpPr>
            <p:cNvPr name="TextBox 56" id="56"/>
            <p:cNvSpPr txBox="true"/>
            <p:nvPr/>
          </p:nvSpPr>
          <p:spPr>
            <a:xfrm>
              <a:off x="0" y="-38100"/>
              <a:ext cx="693876" cy="143597"/>
            </a:xfrm>
            <a:prstGeom prst="rect">
              <a:avLst/>
            </a:prstGeom>
          </p:spPr>
          <p:txBody>
            <a:bodyPr anchor="ctr" rtlCol="false" tIns="50800" lIns="50800" bIns="50800" rIns="50800"/>
            <a:lstStyle/>
            <a:p>
              <a:pPr algn="ctr">
                <a:lnSpc>
                  <a:spcPts val="2329"/>
                </a:lnSpc>
              </a:pPr>
            </a:p>
          </p:txBody>
        </p:sp>
      </p:grpSp>
      <p:sp>
        <p:nvSpPr>
          <p:cNvPr name="TextBox 57" id="57"/>
          <p:cNvSpPr txBox="true"/>
          <p:nvPr/>
        </p:nvSpPr>
        <p:spPr>
          <a:xfrm rot="0">
            <a:off x="9305063" y="7477640"/>
            <a:ext cx="679252" cy="281024"/>
          </a:xfrm>
          <a:prstGeom prst="rect">
            <a:avLst/>
          </a:prstGeom>
        </p:spPr>
        <p:txBody>
          <a:bodyPr anchor="t" rtlCol="false" tIns="0" lIns="0" bIns="0" rIns="0">
            <a:spAutoFit/>
          </a:bodyPr>
          <a:lstStyle/>
          <a:p>
            <a:pPr algn="ctr">
              <a:lnSpc>
                <a:spcPts val="2473"/>
              </a:lnSpc>
              <a:spcBef>
                <a:spcPct val="0"/>
              </a:spcBef>
            </a:pPr>
            <a:r>
              <a:rPr lang="en-US" sz="1717">
                <a:solidFill>
                  <a:srgbClr val="000000"/>
                </a:solidFill>
                <a:latin typeface="Open Sans 1"/>
                <a:ea typeface="Open Sans 1"/>
                <a:cs typeface="Open Sans 1"/>
                <a:sym typeface="Open Sans 1"/>
              </a:rPr>
              <a:t>&lt; 1 km</a:t>
            </a:r>
          </a:p>
        </p:txBody>
      </p:sp>
      <p:sp>
        <p:nvSpPr>
          <p:cNvPr name="TextBox 58" id="58"/>
          <p:cNvSpPr txBox="true"/>
          <p:nvPr/>
        </p:nvSpPr>
        <p:spPr>
          <a:xfrm rot="0">
            <a:off x="11503312" y="4412498"/>
            <a:ext cx="2251710" cy="306552"/>
          </a:xfrm>
          <a:prstGeom prst="rect">
            <a:avLst/>
          </a:prstGeom>
        </p:spPr>
        <p:txBody>
          <a:bodyPr anchor="t" rtlCol="false" tIns="0" lIns="0" bIns="0" rIns="0">
            <a:spAutoFit/>
          </a:bodyPr>
          <a:lstStyle/>
          <a:p>
            <a:pPr algn="ctr">
              <a:lnSpc>
                <a:spcPts val="2617"/>
              </a:lnSpc>
              <a:spcBef>
                <a:spcPct val="0"/>
              </a:spcBef>
            </a:pPr>
            <a:r>
              <a:rPr lang="en-US" b="true" sz="1817">
                <a:solidFill>
                  <a:srgbClr val="06656B"/>
                </a:solidFill>
                <a:latin typeface="Open Sans 1 Bold"/>
                <a:ea typeface="Open Sans 1 Bold"/>
                <a:cs typeface="Open Sans 1 Bold"/>
                <a:sym typeface="Open Sans 1 Bold"/>
              </a:rPr>
              <a:t>Hasil Rekomendasi </a:t>
            </a:r>
          </a:p>
        </p:txBody>
      </p:sp>
      <p:grpSp>
        <p:nvGrpSpPr>
          <p:cNvPr name="Group 59" id="59"/>
          <p:cNvGrpSpPr/>
          <p:nvPr/>
        </p:nvGrpSpPr>
        <p:grpSpPr>
          <a:xfrm rot="0">
            <a:off x="11512837" y="4811225"/>
            <a:ext cx="3883671" cy="1244095"/>
            <a:chOff x="0" y="0"/>
            <a:chExt cx="1022860" cy="327663"/>
          </a:xfrm>
        </p:grpSpPr>
        <p:sp>
          <p:nvSpPr>
            <p:cNvPr name="Freeform 60" id="60"/>
            <p:cNvSpPr/>
            <p:nvPr/>
          </p:nvSpPr>
          <p:spPr>
            <a:xfrm flipH="false" flipV="false" rot="0">
              <a:off x="0" y="0"/>
              <a:ext cx="1022860" cy="327663"/>
            </a:xfrm>
            <a:custGeom>
              <a:avLst/>
              <a:gdLst/>
              <a:ahLst/>
              <a:cxnLst/>
              <a:rect r="r" b="b" t="t" l="l"/>
              <a:pathLst>
                <a:path h="327663" w="1022860">
                  <a:moveTo>
                    <a:pt x="49836" y="0"/>
                  </a:moveTo>
                  <a:lnTo>
                    <a:pt x="973023" y="0"/>
                  </a:lnTo>
                  <a:cubicBezTo>
                    <a:pt x="1000547" y="0"/>
                    <a:pt x="1022860" y="22312"/>
                    <a:pt x="1022860" y="49836"/>
                  </a:cubicBezTo>
                  <a:lnTo>
                    <a:pt x="1022860" y="277827"/>
                  </a:lnTo>
                  <a:cubicBezTo>
                    <a:pt x="1022860" y="291044"/>
                    <a:pt x="1017609" y="303720"/>
                    <a:pt x="1008263" y="313066"/>
                  </a:cubicBezTo>
                  <a:cubicBezTo>
                    <a:pt x="998917" y="322412"/>
                    <a:pt x="986241" y="327663"/>
                    <a:pt x="973023" y="327663"/>
                  </a:cubicBezTo>
                  <a:lnTo>
                    <a:pt x="49836" y="327663"/>
                  </a:lnTo>
                  <a:cubicBezTo>
                    <a:pt x="22312" y="327663"/>
                    <a:pt x="0" y="305350"/>
                    <a:pt x="0" y="277827"/>
                  </a:cubicBezTo>
                  <a:lnTo>
                    <a:pt x="0" y="49836"/>
                  </a:lnTo>
                  <a:cubicBezTo>
                    <a:pt x="0" y="36619"/>
                    <a:pt x="5251" y="23943"/>
                    <a:pt x="14597" y="14597"/>
                  </a:cubicBezTo>
                  <a:cubicBezTo>
                    <a:pt x="23943" y="5251"/>
                    <a:pt x="36619" y="0"/>
                    <a:pt x="49836" y="0"/>
                  </a:cubicBezTo>
                  <a:close/>
                </a:path>
              </a:pathLst>
            </a:custGeom>
            <a:ln w="38100" cap="rnd">
              <a:solidFill>
                <a:srgbClr val="000000"/>
              </a:solidFill>
              <a:prstDash val="solid"/>
              <a:round/>
            </a:ln>
          </p:spPr>
        </p:sp>
        <p:sp>
          <p:nvSpPr>
            <p:cNvPr name="TextBox 61" id="61"/>
            <p:cNvSpPr txBox="true"/>
            <p:nvPr/>
          </p:nvSpPr>
          <p:spPr>
            <a:xfrm>
              <a:off x="0" y="-38100"/>
              <a:ext cx="1022860" cy="365763"/>
            </a:xfrm>
            <a:prstGeom prst="rect">
              <a:avLst/>
            </a:prstGeom>
          </p:spPr>
          <p:txBody>
            <a:bodyPr anchor="ctr" rtlCol="false" tIns="50800" lIns="50800" bIns="50800" rIns="50800"/>
            <a:lstStyle/>
            <a:p>
              <a:pPr algn="ctr">
                <a:lnSpc>
                  <a:spcPts val="2329"/>
                </a:lnSpc>
              </a:pPr>
            </a:p>
          </p:txBody>
        </p:sp>
      </p:grpSp>
      <p:sp>
        <p:nvSpPr>
          <p:cNvPr name="TextBox 62" id="62"/>
          <p:cNvSpPr txBox="true"/>
          <p:nvPr/>
        </p:nvSpPr>
        <p:spPr>
          <a:xfrm rot="0">
            <a:off x="11701044" y="4907955"/>
            <a:ext cx="752951" cy="357606"/>
          </a:xfrm>
          <a:prstGeom prst="rect">
            <a:avLst/>
          </a:prstGeom>
        </p:spPr>
        <p:txBody>
          <a:bodyPr anchor="t" rtlCol="false" tIns="0" lIns="0" bIns="0" rIns="0">
            <a:spAutoFit/>
          </a:bodyPr>
          <a:lstStyle/>
          <a:p>
            <a:pPr algn="ctr">
              <a:lnSpc>
                <a:spcPts val="2905"/>
              </a:lnSpc>
              <a:spcBef>
                <a:spcPct val="0"/>
              </a:spcBef>
            </a:pPr>
            <a:r>
              <a:rPr lang="en-US" sz="2017">
                <a:solidFill>
                  <a:srgbClr val="000000"/>
                </a:solidFill>
                <a:latin typeface="Open Sans 1"/>
                <a:ea typeface="Open Sans 1"/>
                <a:cs typeface="Open Sans 1"/>
                <a:sym typeface="Open Sans 1"/>
              </a:rPr>
              <a:t>Kost A</a:t>
            </a:r>
          </a:p>
        </p:txBody>
      </p:sp>
      <p:sp>
        <p:nvSpPr>
          <p:cNvPr name="TextBox 63" id="63"/>
          <p:cNvSpPr txBox="true"/>
          <p:nvPr/>
        </p:nvSpPr>
        <p:spPr>
          <a:xfrm rot="0">
            <a:off x="11701044" y="5333345"/>
            <a:ext cx="1185982" cy="281024"/>
          </a:xfrm>
          <a:prstGeom prst="rect">
            <a:avLst/>
          </a:prstGeom>
        </p:spPr>
        <p:txBody>
          <a:bodyPr anchor="t" rtlCol="false" tIns="0" lIns="0" bIns="0" rIns="0">
            <a:spAutoFit/>
          </a:bodyPr>
          <a:lstStyle/>
          <a:p>
            <a:pPr algn="ctr">
              <a:lnSpc>
                <a:spcPts val="2473"/>
              </a:lnSpc>
              <a:spcBef>
                <a:spcPct val="0"/>
              </a:spcBef>
            </a:pPr>
            <a:r>
              <a:rPr lang="en-US" sz="1717">
                <a:solidFill>
                  <a:srgbClr val="8DC63F"/>
                </a:solidFill>
                <a:latin typeface="Open Sans 1"/>
                <a:ea typeface="Open Sans 1"/>
                <a:cs typeface="Open Sans 1"/>
                <a:sym typeface="Open Sans 1"/>
              </a:rPr>
              <a:t>Rp 650,000 </a:t>
            </a:r>
          </a:p>
        </p:txBody>
      </p:sp>
      <p:sp>
        <p:nvSpPr>
          <p:cNvPr name="TextBox 64" id="64"/>
          <p:cNvSpPr txBox="true"/>
          <p:nvPr/>
        </p:nvSpPr>
        <p:spPr>
          <a:xfrm rot="0">
            <a:off x="11692412" y="5666768"/>
            <a:ext cx="1655802" cy="281024"/>
          </a:xfrm>
          <a:prstGeom prst="rect">
            <a:avLst/>
          </a:prstGeom>
        </p:spPr>
        <p:txBody>
          <a:bodyPr anchor="t" rtlCol="false" tIns="0" lIns="0" bIns="0" rIns="0">
            <a:spAutoFit/>
          </a:bodyPr>
          <a:lstStyle/>
          <a:p>
            <a:pPr algn="ctr">
              <a:lnSpc>
                <a:spcPts val="2473"/>
              </a:lnSpc>
              <a:spcBef>
                <a:spcPct val="0"/>
              </a:spcBef>
            </a:pPr>
            <a:r>
              <a:rPr lang="en-US" sz="1717">
                <a:solidFill>
                  <a:srgbClr val="000000"/>
                </a:solidFill>
                <a:latin typeface="Open Sans 1"/>
                <a:ea typeface="Open Sans 1"/>
                <a:cs typeface="Open Sans 1"/>
                <a:sym typeface="Open Sans 1"/>
              </a:rPr>
              <a:t>800 m dari UPN </a:t>
            </a:r>
          </a:p>
        </p:txBody>
      </p:sp>
      <p:grpSp>
        <p:nvGrpSpPr>
          <p:cNvPr name="Group 65" id="65"/>
          <p:cNvGrpSpPr/>
          <p:nvPr/>
        </p:nvGrpSpPr>
        <p:grpSpPr>
          <a:xfrm rot="0">
            <a:off x="11493787" y="6200817"/>
            <a:ext cx="3883671" cy="1244095"/>
            <a:chOff x="0" y="0"/>
            <a:chExt cx="1022860" cy="327663"/>
          </a:xfrm>
        </p:grpSpPr>
        <p:sp>
          <p:nvSpPr>
            <p:cNvPr name="Freeform 66" id="66"/>
            <p:cNvSpPr/>
            <p:nvPr/>
          </p:nvSpPr>
          <p:spPr>
            <a:xfrm flipH="false" flipV="false" rot="0">
              <a:off x="0" y="0"/>
              <a:ext cx="1022860" cy="327663"/>
            </a:xfrm>
            <a:custGeom>
              <a:avLst/>
              <a:gdLst/>
              <a:ahLst/>
              <a:cxnLst/>
              <a:rect r="r" b="b" t="t" l="l"/>
              <a:pathLst>
                <a:path h="327663" w="1022860">
                  <a:moveTo>
                    <a:pt x="49836" y="0"/>
                  </a:moveTo>
                  <a:lnTo>
                    <a:pt x="973023" y="0"/>
                  </a:lnTo>
                  <a:cubicBezTo>
                    <a:pt x="1000547" y="0"/>
                    <a:pt x="1022860" y="22312"/>
                    <a:pt x="1022860" y="49836"/>
                  </a:cubicBezTo>
                  <a:lnTo>
                    <a:pt x="1022860" y="277827"/>
                  </a:lnTo>
                  <a:cubicBezTo>
                    <a:pt x="1022860" y="291044"/>
                    <a:pt x="1017609" y="303720"/>
                    <a:pt x="1008263" y="313066"/>
                  </a:cubicBezTo>
                  <a:cubicBezTo>
                    <a:pt x="998917" y="322412"/>
                    <a:pt x="986241" y="327663"/>
                    <a:pt x="973023" y="327663"/>
                  </a:cubicBezTo>
                  <a:lnTo>
                    <a:pt x="49836" y="327663"/>
                  </a:lnTo>
                  <a:cubicBezTo>
                    <a:pt x="22312" y="327663"/>
                    <a:pt x="0" y="305350"/>
                    <a:pt x="0" y="277827"/>
                  </a:cubicBezTo>
                  <a:lnTo>
                    <a:pt x="0" y="49836"/>
                  </a:lnTo>
                  <a:cubicBezTo>
                    <a:pt x="0" y="36619"/>
                    <a:pt x="5251" y="23943"/>
                    <a:pt x="14597" y="14597"/>
                  </a:cubicBezTo>
                  <a:cubicBezTo>
                    <a:pt x="23943" y="5251"/>
                    <a:pt x="36619" y="0"/>
                    <a:pt x="49836" y="0"/>
                  </a:cubicBezTo>
                  <a:close/>
                </a:path>
              </a:pathLst>
            </a:custGeom>
            <a:ln w="38100" cap="rnd">
              <a:solidFill>
                <a:srgbClr val="000000"/>
              </a:solidFill>
              <a:prstDash val="solid"/>
              <a:round/>
            </a:ln>
          </p:spPr>
        </p:sp>
        <p:sp>
          <p:nvSpPr>
            <p:cNvPr name="TextBox 67" id="67"/>
            <p:cNvSpPr txBox="true"/>
            <p:nvPr/>
          </p:nvSpPr>
          <p:spPr>
            <a:xfrm>
              <a:off x="0" y="-38100"/>
              <a:ext cx="1022860" cy="365763"/>
            </a:xfrm>
            <a:prstGeom prst="rect">
              <a:avLst/>
            </a:prstGeom>
          </p:spPr>
          <p:txBody>
            <a:bodyPr anchor="ctr" rtlCol="false" tIns="50800" lIns="50800" bIns="50800" rIns="50800"/>
            <a:lstStyle/>
            <a:p>
              <a:pPr algn="ctr">
                <a:lnSpc>
                  <a:spcPts val="2329"/>
                </a:lnSpc>
              </a:pPr>
            </a:p>
          </p:txBody>
        </p:sp>
      </p:grpSp>
      <p:sp>
        <p:nvSpPr>
          <p:cNvPr name="TextBox 68" id="68"/>
          <p:cNvSpPr txBox="true"/>
          <p:nvPr/>
        </p:nvSpPr>
        <p:spPr>
          <a:xfrm rot="0">
            <a:off x="11699258" y="6293797"/>
            <a:ext cx="756523" cy="357606"/>
          </a:xfrm>
          <a:prstGeom prst="rect">
            <a:avLst/>
          </a:prstGeom>
        </p:spPr>
        <p:txBody>
          <a:bodyPr anchor="t" rtlCol="false" tIns="0" lIns="0" bIns="0" rIns="0">
            <a:spAutoFit/>
          </a:bodyPr>
          <a:lstStyle/>
          <a:p>
            <a:pPr algn="ctr">
              <a:lnSpc>
                <a:spcPts val="2905"/>
              </a:lnSpc>
              <a:spcBef>
                <a:spcPct val="0"/>
              </a:spcBef>
            </a:pPr>
            <a:r>
              <a:rPr lang="en-US" sz="2017">
                <a:solidFill>
                  <a:srgbClr val="000000"/>
                </a:solidFill>
                <a:latin typeface="Open Sans 1"/>
                <a:ea typeface="Open Sans 1"/>
                <a:cs typeface="Open Sans 1"/>
                <a:sym typeface="Open Sans 1"/>
              </a:rPr>
              <a:t>Kost B</a:t>
            </a:r>
          </a:p>
        </p:txBody>
      </p:sp>
      <p:sp>
        <p:nvSpPr>
          <p:cNvPr name="TextBox 69" id="69"/>
          <p:cNvSpPr txBox="true"/>
          <p:nvPr/>
        </p:nvSpPr>
        <p:spPr>
          <a:xfrm rot="0">
            <a:off x="11692412" y="6708553"/>
            <a:ext cx="1185982" cy="281024"/>
          </a:xfrm>
          <a:prstGeom prst="rect">
            <a:avLst/>
          </a:prstGeom>
        </p:spPr>
        <p:txBody>
          <a:bodyPr anchor="t" rtlCol="false" tIns="0" lIns="0" bIns="0" rIns="0">
            <a:spAutoFit/>
          </a:bodyPr>
          <a:lstStyle/>
          <a:p>
            <a:pPr algn="ctr">
              <a:lnSpc>
                <a:spcPts val="2473"/>
              </a:lnSpc>
              <a:spcBef>
                <a:spcPct val="0"/>
              </a:spcBef>
            </a:pPr>
            <a:r>
              <a:rPr lang="en-US" sz="1717">
                <a:solidFill>
                  <a:srgbClr val="8DC63F"/>
                </a:solidFill>
                <a:latin typeface="Open Sans 1"/>
                <a:ea typeface="Open Sans 1"/>
                <a:cs typeface="Open Sans 1"/>
                <a:sym typeface="Open Sans 1"/>
              </a:rPr>
              <a:t>Rp 800,000 </a:t>
            </a:r>
          </a:p>
        </p:txBody>
      </p:sp>
      <p:sp>
        <p:nvSpPr>
          <p:cNvPr name="TextBox 70" id="70"/>
          <p:cNvSpPr txBox="true"/>
          <p:nvPr/>
        </p:nvSpPr>
        <p:spPr>
          <a:xfrm rot="0">
            <a:off x="11692412" y="7029732"/>
            <a:ext cx="1655802" cy="281024"/>
          </a:xfrm>
          <a:prstGeom prst="rect">
            <a:avLst/>
          </a:prstGeom>
        </p:spPr>
        <p:txBody>
          <a:bodyPr anchor="t" rtlCol="false" tIns="0" lIns="0" bIns="0" rIns="0">
            <a:spAutoFit/>
          </a:bodyPr>
          <a:lstStyle/>
          <a:p>
            <a:pPr algn="ctr">
              <a:lnSpc>
                <a:spcPts val="2473"/>
              </a:lnSpc>
              <a:spcBef>
                <a:spcPct val="0"/>
              </a:spcBef>
            </a:pPr>
            <a:r>
              <a:rPr lang="en-US" sz="1717">
                <a:solidFill>
                  <a:srgbClr val="000000"/>
                </a:solidFill>
                <a:latin typeface="Open Sans 1"/>
                <a:ea typeface="Open Sans 1"/>
                <a:cs typeface="Open Sans 1"/>
                <a:sym typeface="Open Sans 1"/>
              </a:rPr>
              <a:t>450 m dari UPN </a:t>
            </a:r>
          </a:p>
        </p:txBody>
      </p:sp>
      <p:sp>
        <p:nvSpPr>
          <p:cNvPr name="TextBox 71" id="71"/>
          <p:cNvSpPr txBox="true"/>
          <p:nvPr/>
        </p:nvSpPr>
        <p:spPr>
          <a:xfrm rot="0">
            <a:off x="11512837" y="7560312"/>
            <a:ext cx="4738127" cy="918956"/>
          </a:xfrm>
          <a:prstGeom prst="rect">
            <a:avLst/>
          </a:prstGeom>
        </p:spPr>
        <p:txBody>
          <a:bodyPr anchor="t" rtlCol="false" tIns="0" lIns="0" bIns="0" rIns="0">
            <a:spAutoFit/>
          </a:bodyPr>
          <a:lstStyle/>
          <a:p>
            <a:pPr algn="ctr">
              <a:lnSpc>
                <a:spcPts val="2484"/>
              </a:lnSpc>
              <a:spcBef>
                <a:spcPct val="0"/>
              </a:spcBef>
            </a:pPr>
            <a:r>
              <a:rPr lang="en-US" sz="1725">
                <a:solidFill>
                  <a:srgbClr val="000000"/>
                </a:solidFill>
                <a:latin typeface="Open Sans 1"/>
                <a:ea typeface="Open Sans 1"/>
                <a:cs typeface="Open Sans 1"/>
                <a:sym typeface="Open Sans 1"/>
              </a:rPr>
              <a:t>Fitur </a:t>
            </a:r>
            <a:r>
              <a:rPr lang="en-US" sz="1725" i="true">
                <a:solidFill>
                  <a:srgbClr val="000000"/>
                </a:solidFill>
                <a:latin typeface="Open Sans 1 Italics"/>
                <a:ea typeface="Open Sans 1 Italics"/>
                <a:cs typeface="Open Sans 1 Italics"/>
                <a:sym typeface="Open Sans 1 Italics"/>
              </a:rPr>
              <a:t>filtering</a:t>
            </a:r>
            <a:r>
              <a:rPr lang="en-US" sz="1725">
                <a:solidFill>
                  <a:srgbClr val="000000"/>
                </a:solidFill>
                <a:latin typeface="Open Sans 1"/>
                <a:ea typeface="Open Sans 1"/>
                <a:cs typeface="Open Sans 1"/>
                <a:sym typeface="Open Sans 1"/>
              </a:rPr>
              <a:t> membantu pengguna mencari kost sesuai budget, fasilitas dan lokasi yang diinginkan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74" r="0" b="-74"/>
              </a:stretch>
            </a:blipFill>
          </p:spPr>
        </p:sp>
      </p:grpSp>
      <p:grpSp>
        <p:nvGrpSpPr>
          <p:cNvPr name="Group 4" id="4"/>
          <p:cNvGrpSpPr/>
          <p:nvPr/>
        </p:nvGrpSpPr>
        <p:grpSpPr>
          <a:xfrm rot="0">
            <a:off x="15977448" y="736370"/>
            <a:ext cx="770855" cy="1031245"/>
            <a:chOff x="0" y="0"/>
            <a:chExt cx="1027807" cy="1374993"/>
          </a:xfrm>
        </p:grpSpPr>
        <p:sp>
          <p:nvSpPr>
            <p:cNvPr name="Freeform 5" id="5"/>
            <p:cNvSpPr/>
            <p:nvPr/>
          </p:nvSpPr>
          <p:spPr>
            <a:xfrm flipH="false" flipV="false" rot="0">
              <a:off x="0" y="0"/>
              <a:ext cx="1027811" cy="1375029"/>
            </a:xfrm>
            <a:custGeom>
              <a:avLst/>
              <a:gdLst/>
              <a:ahLst/>
              <a:cxnLst/>
              <a:rect r="r" b="b" t="t" l="l"/>
              <a:pathLst>
                <a:path h="1375029" w="1027811">
                  <a:moveTo>
                    <a:pt x="0" y="0"/>
                  </a:moveTo>
                  <a:lnTo>
                    <a:pt x="1027811" y="0"/>
                  </a:lnTo>
                  <a:lnTo>
                    <a:pt x="1027811" y="1375029"/>
                  </a:lnTo>
                  <a:lnTo>
                    <a:pt x="0" y="1375029"/>
                  </a:lnTo>
                  <a:lnTo>
                    <a:pt x="0" y="0"/>
                  </a:lnTo>
                  <a:close/>
                </a:path>
              </a:pathLst>
            </a:custGeom>
            <a:blipFill>
              <a:blip r:embed="rId3"/>
              <a:stretch>
                <a:fillRect l="0" t="0" r="0" b="2"/>
              </a:stretch>
            </a:blipFill>
          </p:spPr>
        </p:sp>
      </p:grpSp>
      <p:sp>
        <p:nvSpPr>
          <p:cNvPr name="TextBox 6" id="6"/>
          <p:cNvSpPr txBox="true"/>
          <p:nvPr/>
        </p:nvSpPr>
        <p:spPr>
          <a:xfrm rot="0">
            <a:off x="1028700" y="895350"/>
            <a:ext cx="16230600" cy="1045845"/>
          </a:xfrm>
          <a:prstGeom prst="rect">
            <a:avLst/>
          </a:prstGeom>
        </p:spPr>
        <p:txBody>
          <a:bodyPr anchor="t" rtlCol="false" tIns="0" lIns="0" bIns="0" rIns="0">
            <a:spAutoFit/>
          </a:bodyPr>
          <a:lstStyle/>
          <a:p>
            <a:pPr algn="ctr">
              <a:lnSpc>
                <a:spcPts val="8640"/>
              </a:lnSpc>
              <a:spcBef>
                <a:spcPct val="0"/>
              </a:spcBef>
            </a:pPr>
            <a:r>
              <a:rPr lang="en-US" b="true" sz="6000">
                <a:solidFill>
                  <a:srgbClr val="EF7F1D"/>
                </a:solidFill>
                <a:latin typeface="Open Sans 1 Bold"/>
                <a:ea typeface="Open Sans 1 Bold"/>
                <a:cs typeface="Open Sans 1 Bold"/>
                <a:sym typeface="Open Sans 1 Bold"/>
              </a:rPr>
              <a:t>FUNGSIONAL</a:t>
            </a:r>
          </a:p>
        </p:txBody>
      </p:sp>
      <p:grpSp>
        <p:nvGrpSpPr>
          <p:cNvPr name="Group 7" id="7"/>
          <p:cNvGrpSpPr/>
          <p:nvPr/>
        </p:nvGrpSpPr>
        <p:grpSpPr>
          <a:xfrm rot="0">
            <a:off x="2489589" y="2964967"/>
            <a:ext cx="6309458" cy="6066375"/>
            <a:chOff x="0" y="0"/>
            <a:chExt cx="1661750" cy="1597728"/>
          </a:xfrm>
        </p:grpSpPr>
        <p:sp>
          <p:nvSpPr>
            <p:cNvPr name="Freeform 8" id="8"/>
            <p:cNvSpPr/>
            <p:nvPr/>
          </p:nvSpPr>
          <p:spPr>
            <a:xfrm flipH="false" flipV="false" rot="0">
              <a:off x="0" y="0"/>
              <a:ext cx="1661750" cy="1597728"/>
            </a:xfrm>
            <a:custGeom>
              <a:avLst/>
              <a:gdLst/>
              <a:ahLst/>
              <a:cxnLst/>
              <a:rect r="r" b="b" t="t" l="l"/>
              <a:pathLst>
                <a:path h="1597728" w="1661750">
                  <a:moveTo>
                    <a:pt x="24541" y="0"/>
                  </a:moveTo>
                  <a:lnTo>
                    <a:pt x="1637209" y="0"/>
                  </a:lnTo>
                  <a:cubicBezTo>
                    <a:pt x="1650763" y="0"/>
                    <a:pt x="1661750" y="10987"/>
                    <a:pt x="1661750" y="24541"/>
                  </a:cubicBezTo>
                  <a:lnTo>
                    <a:pt x="1661750" y="1573188"/>
                  </a:lnTo>
                  <a:cubicBezTo>
                    <a:pt x="1661750" y="1586741"/>
                    <a:pt x="1650763" y="1597728"/>
                    <a:pt x="1637209" y="1597728"/>
                  </a:cubicBezTo>
                  <a:lnTo>
                    <a:pt x="24541" y="1597728"/>
                  </a:lnTo>
                  <a:cubicBezTo>
                    <a:pt x="10987" y="1597728"/>
                    <a:pt x="0" y="1586741"/>
                    <a:pt x="0" y="1573188"/>
                  </a:cubicBezTo>
                  <a:lnTo>
                    <a:pt x="0" y="24541"/>
                  </a:lnTo>
                  <a:cubicBezTo>
                    <a:pt x="0" y="10987"/>
                    <a:pt x="10987" y="0"/>
                    <a:pt x="24541" y="0"/>
                  </a:cubicBezTo>
                  <a:close/>
                </a:path>
              </a:pathLst>
            </a:custGeom>
            <a:ln w="38100" cap="sq">
              <a:solidFill>
                <a:srgbClr val="AEB1B5"/>
              </a:solidFill>
              <a:prstDash val="solid"/>
              <a:miter/>
            </a:ln>
          </p:spPr>
        </p:sp>
        <p:sp>
          <p:nvSpPr>
            <p:cNvPr name="TextBox 9" id="9"/>
            <p:cNvSpPr txBox="true"/>
            <p:nvPr/>
          </p:nvSpPr>
          <p:spPr>
            <a:xfrm>
              <a:off x="0" y="-38100"/>
              <a:ext cx="1661750" cy="1635828"/>
            </a:xfrm>
            <a:prstGeom prst="rect">
              <a:avLst/>
            </a:prstGeom>
          </p:spPr>
          <p:txBody>
            <a:bodyPr anchor="ctr" rtlCol="false" tIns="50800" lIns="50800" bIns="50800" rIns="50800"/>
            <a:lstStyle/>
            <a:p>
              <a:pPr algn="ctr">
                <a:lnSpc>
                  <a:spcPts val="2329"/>
                </a:lnSpc>
              </a:pPr>
            </a:p>
          </p:txBody>
        </p:sp>
      </p:grpSp>
      <p:grpSp>
        <p:nvGrpSpPr>
          <p:cNvPr name="Group 10" id="10"/>
          <p:cNvGrpSpPr/>
          <p:nvPr/>
        </p:nvGrpSpPr>
        <p:grpSpPr>
          <a:xfrm rot="0">
            <a:off x="2841999" y="3315822"/>
            <a:ext cx="5463528" cy="657648"/>
            <a:chOff x="0" y="0"/>
            <a:chExt cx="1438954" cy="173208"/>
          </a:xfrm>
        </p:grpSpPr>
        <p:sp>
          <p:nvSpPr>
            <p:cNvPr name="Freeform 11" id="11"/>
            <p:cNvSpPr/>
            <p:nvPr/>
          </p:nvSpPr>
          <p:spPr>
            <a:xfrm flipH="false" flipV="false" rot="0">
              <a:off x="0" y="0"/>
              <a:ext cx="1438954" cy="173208"/>
            </a:xfrm>
            <a:custGeom>
              <a:avLst/>
              <a:gdLst/>
              <a:ahLst/>
              <a:cxnLst/>
              <a:rect r="r" b="b" t="t" l="l"/>
              <a:pathLst>
                <a:path h="173208" w="1438954">
                  <a:moveTo>
                    <a:pt x="28340" y="0"/>
                  </a:moveTo>
                  <a:lnTo>
                    <a:pt x="1410613" y="0"/>
                  </a:lnTo>
                  <a:cubicBezTo>
                    <a:pt x="1426265" y="0"/>
                    <a:pt x="1438954" y="12688"/>
                    <a:pt x="1438954" y="28340"/>
                  </a:cubicBezTo>
                  <a:lnTo>
                    <a:pt x="1438954" y="144867"/>
                  </a:lnTo>
                  <a:cubicBezTo>
                    <a:pt x="1438954" y="160519"/>
                    <a:pt x="1426265" y="173208"/>
                    <a:pt x="1410613" y="173208"/>
                  </a:cubicBezTo>
                  <a:lnTo>
                    <a:pt x="28340" y="173208"/>
                  </a:lnTo>
                  <a:cubicBezTo>
                    <a:pt x="12688" y="173208"/>
                    <a:pt x="0" y="160519"/>
                    <a:pt x="0" y="144867"/>
                  </a:cubicBezTo>
                  <a:lnTo>
                    <a:pt x="0" y="28340"/>
                  </a:lnTo>
                  <a:cubicBezTo>
                    <a:pt x="0" y="12688"/>
                    <a:pt x="12688" y="0"/>
                    <a:pt x="28340" y="0"/>
                  </a:cubicBezTo>
                  <a:close/>
                </a:path>
              </a:pathLst>
            </a:custGeom>
            <a:solidFill>
              <a:srgbClr val="FFFFFF"/>
            </a:solidFill>
            <a:ln w="19050" cap="sq">
              <a:solidFill>
                <a:srgbClr val="000000"/>
              </a:solidFill>
              <a:prstDash val="solid"/>
              <a:miter/>
            </a:ln>
          </p:spPr>
        </p:sp>
        <p:sp>
          <p:nvSpPr>
            <p:cNvPr name="TextBox 12" id="12"/>
            <p:cNvSpPr txBox="true"/>
            <p:nvPr/>
          </p:nvSpPr>
          <p:spPr>
            <a:xfrm>
              <a:off x="0" y="-38100"/>
              <a:ext cx="1438954" cy="211308"/>
            </a:xfrm>
            <a:prstGeom prst="rect">
              <a:avLst/>
            </a:prstGeom>
          </p:spPr>
          <p:txBody>
            <a:bodyPr anchor="ctr" rtlCol="false" tIns="50800" lIns="50800" bIns="50800" rIns="50800"/>
            <a:lstStyle/>
            <a:p>
              <a:pPr algn="ctr">
                <a:lnSpc>
                  <a:spcPts val="2329"/>
                </a:lnSpc>
              </a:pPr>
            </a:p>
          </p:txBody>
        </p:sp>
      </p:grpSp>
      <p:sp>
        <p:nvSpPr>
          <p:cNvPr name="TextBox 13" id="13"/>
          <p:cNvSpPr txBox="true"/>
          <p:nvPr/>
        </p:nvSpPr>
        <p:spPr>
          <a:xfrm rot="0">
            <a:off x="4817835" y="3414789"/>
            <a:ext cx="1511856" cy="412089"/>
          </a:xfrm>
          <a:prstGeom prst="rect">
            <a:avLst/>
          </a:prstGeom>
        </p:spPr>
        <p:txBody>
          <a:bodyPr anchor="t" rtlCol="false" tIns="0" lIns="0" bIns="0" rIns="0">
            <a:spAutoFit/>
          </a:bodyPr>
          <a:lstStyle/>
          <a:p>
            <a:pPr algn="ctr">
              <a:lnSpc>
                <a:spcPts val="3481"/>
              </a:lnSpc>
              <a:spcBef>
                <a:spcPct val="0"/>
              </a:spcBef>
            </a:pPr>
            <a:r>
              <a:rPr lang="en-US" b="true" sz="2417">
                <a:solidFill>
                  <a:srgbClr val="06656B"/>
                </a:solidFill>
                <a:latin typeface="Open Sans 1 Bold"/>
                <a:ea typeface="Open Sans 1 Bold"/>
                <a:cs typeface="Open Sans 1 Bold"/>
                <a:sym typeface="Open Sans 1 Bold"/>
              </a:rPr>
              <a:t>Pengguna</a:t>
            </a:r>
          </a:p>
        </p:txBody>
      </p:sp>
      <p:sp>
        <p:nvSpPr>
          <p:cNvPr name="TextBox 14" id="14"/>
          <p:cNvSpPr txBox="true"/>
          <p:nvPr/>
        </p:nvSpPr>
        <p:spPr>
          <a:xfrm rot="0">
            <a:off x="2671044" y="4228885"/>
            <a:ext cx="5634482" cy="4010456"/>
          </a:xfrm>
          <a:prstGeom prst="rect">
            <a:avLst/>
          </a:prstGeom>
        </p:spPr>
        <p:txBody>
          <a:bodyPr anchor="t" rtlCol="false" tIns="0" lIns="0" bIns="0" rIns="0">
            <a:spAutoFit/>
          </a:bodyPr>
          <a:lstStyle/>
          <a:p>
            <a:pPr algn="l" marL="536697" indent="-268349" lvl="1">
              <a:lnSpc>
                <a:spcPts val="3579"/>
              </a:lnSpc>
              <a:buFont typeface="Arial"/>
              <a:buChar char="•"/>
            </a:pPr>
            <a:r>
              <a:rPr lang="en-US" sz="2485">
                <a:solidFill>
                  <a:srgbClr val="000000"/>
                </a:solidFill>
                <a:latin typeface="Open Sans 1"/>
                <a:ea typeface="Open Sans 1"/>
                <a:cs typeface="Open Sans 1"/>
                <a:sym typeface="Open Sans 1"/>
              </a:rPr>
              <a:t>Melihat persebaran kos di peta interaktif</a:t>
            </a:r>
          </a:p>
          <a:p>
            <a:pPr algn="l" marL="536697" indent="-268349" lvl="1">
              <a:lnSpc>
                <a:spcPts val="3579"/>
              </a:lnSpc>
              <a:buFont typeface="Arial"/>
              <a:buChar char="•"/>
            </a:pPr>
            <a:r>
              <a:rPr lang="en-US" sz="2485">
                <a:solidFill>
                  <a:srgbClr val="000000"/>
                </a:solidFill>
                <a:latin typeface="Open Sans 1"/>
                <a:ea typeface="Open Sans 1"/>
                <a:cs typeface="Open Sans 1"/>
                <a:sym typeface="Open Sans 1"/>
              </a:rPr>
              <a:t>Filter kos berdasarkan harga, fasilitas, dan jarak ke kampus</a:t>
            </a:r>
          </a:p>
          <a:p>
            <a:pPr algn="l" marL="536697" indent="-268349" lvl="1">
              <a:lnSpc>
                <a:spcPts val="3579"/>
              </a:lnSpc>
              <a:buFont typeface="Arial"/>
              <a:buChar char="•"/>
            </a:pPr>
            <a:r>
              <a:rPr lang="en-US" sz="2485">
                <a:solidFill>
                  <a:srgbClr val="000000"/>
                </a:solidFill>
                <a:latin typeface="Open Sans 1"/>
                <a:ea typeface="Open Sans 1"/>
                <a:cs typeface="Open Sans 1"/>
                <a:sym typeface="Open Sans 1"/>
              </a:rPr>
              <a:t>Melihat detail informasi kos</a:t>
            </a:r>
          </a:p>
          <a:p>
            <a:pPr algn="l" marL="536697" indent="-268349" lvl="1">
              <a:lnSpc>
                <a:spcPts val="3579"/>
              </a:lnSpc>
              <a:buFont typeface="Arial"/>
              <a:buChar char="•"/>
            </a:pPr>
            <a:r>
              <a:rPr lang="en-US" sz="2485">
                <a:solidFill>
                  <a:srgbClr val="000000"/>
                </a:solidFill>
                <a:latin typeface="Open Sans 1"/>
                <a:ea typeface="Open Sans 1"/>
                <a:cs typeface="Open Sans 1"/>
                <a:sym typeface="Open Sans 1"/>
              </a:rPr>
              <a:t>Membandingkan kos piliha lewat fitur favorit</a:t>
            </a:r>
          </a:p>
          <a:p>
            <a:pPr algn="l" marL="536697" indent="-268349" lvl="1">
              <a:lnSpc>
                <a:spcPts val="3579"/>
              </a:lnSpc>
              <a:buFont typeface="Arial"/>
              <a:buChar char="•"/>
            </a:pPr>
            <a:r>
              <a:rPr lang="en-US" sz="2485">
                <a:solidFill>
                  <a:srgbClr val="000000"/>
                </a:solidFill>
                <a:latin typeface="Open Sans 1"/>
                <a:ea typeface="Open Sans 1"/>
                <a:cs typeface="Open Sans 1"/>
                <a:sym typeface="Open Sans 1"/>
              </a:rPr>
              <a:t>Menyimpan dan Mengelola daftar kos favorit</a:t>
            </a:r>
          </a:p>
        </p:txBody>
      </p:sp>
      <p:grpSp>
        <p:nvGrpSpPr>
          <p:cNvPr name="Group 15" id="15"/>
          <p:cNvGrpSpPr/>
          <p:nvPr/>
        </p:nvGrpSpPr>
        <p:grpSpPr>
          <a:xfrm rot="0">
            <a:off x="9679331" y="2964967"/>
            <a:ext cx="5716791" cy="6066375"/>
            <a:chOff x="0" y="0"/>
            <a:chExt cx="1505657" cy="1597728"/>
          </a:xfrm>
        </p:grpSpPr>
        <p:sp>
          <p:nvSpPr>
            <p:cNvPr name="Freeform 16" id="16"/>
            <p:cNvSpPr/>
            <p:nvPr/>
          </p:nvSpPr>
          <p:spPr>
            <a:xfrm flipH="false" flipV="false" rot="0">
              <a:off x="0" y="0"/>
              <a:ext cx="1505657" cy="1597728"/>
            </a:xfrm>
            <a:custGeom>
              <a:avLst/>
              <a:gdLst/>
              <a:ahLst/>
              <a:cxnLst/>
              <a:rect r="r" b="b" t="t" l="l"/>
              <a:pathLst>
                <a:path h="1597728" w="1505657">
                  <a:moveTo>
                    <a:pt x="27085" y="0"/>
                  </a:moveTo>
                  <a:lnTo>
                    <a:pt x="1478572" y="0"/>
                  </a:lnTo>
                  <a:cubicBezTo>
                    <a:pt x="1493531" y="0"/>
                    <a:pt x="1505657" y="12126"/>
                    <a:pt x="1505657" y="27085"/>
                  </a:cubicBezTo>
                  <a:lnTo>
                    <a:pt x="1505657" y="1570643"/>
                  </a:lnTo>
                  <a:cubicBezTo>
                    <a:pt x="1505657" y="1577827"/>
                    <a:pt x="1502803" y="1584716"/>
                    <a:pt x="1497724" y="1589795"/>
                  </a:cubicBezTo>
                  <a:cubicBezTo>
                    <a:pt x="1492645" y="1594875"/>
                    <a:pt x="1485755" y="1597728"/>
                    <a:pt x="1478572" y="1597728"/>
                  </a:cubicBezTo>
                  <a:lnTo>
                    <a:pt x="27085" y="1597728"/>
                  </a:lnTo>
                  <a:cubicBezTo>
                    <a:pt x="12126" y="1597728"/>
                    <a:pt x="0" y="1585602"/>
                    <a:pt x="0" y="1570643"/>
                  </a:cubicBezTo>
                  <a:lnTo>
                    <a:pt x="0" y="27085"/>
                  </a:lnTo>
                  <a:cubicBezTo>
                    <a:pt x="0" y="12126"/>
                    <a:pt x="12126" y="0"/>
                    <a:pt x="27085" y="0"/>
                  </a:cubicBezTo>
                  <a:close/>
                </a:path>
              </a:pathLst>
            </a:custGeom>
            <a:ln w="38100" cap="sq">
              <a:solidFill>
                <a:srgbClr val="AEB1B5"/>
              </a:solidFill>
              <a:prstDash val="solid"/>
              <a:miter/>
            </a:ln>
          </p:spPr>
        </p:sp>
        <p:sp>
          <p:nvSpPr>
            <p:cNvPr name="TextBox 17" id="17"/>
            <p:cNvSpPr txBox="true"/>
            <p:nvPr/>
          </p:nvSpPr>
          <p:spPr>
            <a:xfrm>
              <a:off x="0" y="-38100"/>
              <a:ext cx="1505657" cy="1635828"/>
            </a:xfrm>
            <a:prstGeom prst="rect">
              <a:avLst/>
            </a:prstGeom>
          </p:spPr>
          <p:txBody>
            <a:bodyPr anchor="ctr" rtlCol="false" tIns="50800" lIns="50800" bIns="50800" rIns="50800"/>
            <a:lstStyle/>
            <a:p>
              <a:pPr algn="ctr">
                <a:lnSpc>
                  <a:spcPts val="2329"/>
                </a:lnSpc>
              </a:pPr>
            </a:p>
          </p:txBody>
        </p:sp>
      </p:grpSp>
      <p:grpSp>
        <p:nvGrpSpPr>
          <p:cNvPr name="Group 18" id="18"/>
          <p:cNvGrpSpPr/>
          <p:nvPr/>
        </p:nvGrpSpPr>
        <p:grpSpPr>
          <a:xfrm rot="0">
            <a:off x="10059962" y="3315822"/>
            <a:ext cx="4983750" cy="657648"/>
            <a:chOff x="0" y="0"/>
            <a:chExt cx="1312593" cy="173208"/>
          </a:xfrm>
        </p:grpSpPr>
        <p:sp>
          <p:nvSpPr>
            <p:cNvPr name="Freeform 19" id="19"/>
            <p:cNvSpPr/>
            <p:nvPr/>
          </p:nvSpPr>
          <p:spPr>
            <a:xfrm flipH="false" flipV="false" rot="0">
              <a:off x="0" y="0"/>
              <a:ext cx="1312593" cy="173208"/>
            </a:xfrm>
            <a:custGeom>
              <a:avLst/>
              <a:gdLst/>
              <a:ahLst/>
              <a:cxnLst/>
              <a:rect r="r" b="b" t="t" l="l"/>
              <a:pathLst>
                <a:path h="173208" w="1312593">
                  <a:moveTo>
                    <a:pt x="31069" y="0"/>
                  </a:moveTo>
                  <a:lnTo>
                    <a:pt x="1281524" y="0"/>
                  </a:lnTo>
                  <a:cubicBezTo>
                    <a:pt x="1289764" y="0"/>
                    <a:pt x="1297666" y="3273"/>
                    <a:pt x="1303493" y="9100"/>
                  </a:cubicBezTo>
                  <a:cubicBezTo>
                    <a:pt x="1309319" y="14926"/>
                    <a:pt x="1312593" y="22829"/>
                    <a:pt x="1312593" y="31069"/>
                  </a:cubicBezTo>
                  <a:lnTo>
                    <a:pt x="1312593" y="142139"/>
                  </a:lnTo>
                  <a:cubicBezTo>
                    <a:pt x="1312593" y="150379"/>
                    <a:pt x="1309319" y="158282"/>
                    <a:pt x="1303493" y="164108"/>
                  </a:cubicBezTo>
                  <a:cubicBezTo>
                    <a:pt x="1297666" y="169935"/>
                    <a:pt x="1289764" y="173208"/>
                    <a:pt x="1281524" y="173208"/>
                  </a:cubicBezTo>
                  <a:lnTo>
                    <a:pt x="31069" y="173208"/>
                  </a:lnTo>
                  <a:cubicBezTo>
                    <a:pt x="22829" y="173208"/>
                    <a:pt x="14926" y="169935"/>
                    <a:pt x="9100" y="164108"/>
                  </a:cubicBezTo>
                  <a:cubicBezTo>
                    <a:pt x="3273" y="158282"/>
                    <a:pt x="0" y="150379"/>
                    <a:pt x="0" y="142139"/>
                  </a:cubicBezTo>
                  <a:lnTo>
                    <a:pt x="0" y="31069"/>
                  </a:lnTo>
                  <a:cubicBezTo>
                    <a:pt x="0" y="22829"/>
                    <a:pt x="3273" y="14926"/>
                    <a:pt x="9100" y="9100"/>
                  </a:cubicBezTo>
                  <a:cubicBezTo>
                    <a:pt x="14926" y="3273"/>
                    <a:pt x="22829" y="0"/>
                    <a:pt x="31069" y="0"/>
                  </a:cubicBezTo>
                  <a:close/>
                </a:path>
              </a:pathLst>
            </a:custGeom>
            <a:solidFill>
              <a:srgbClr val="FFFFFF"/>
            </a:solidFill>
            <a:ln w="19050" cap="sq">
              <a:solidFill>
                <a:srgbClr val="000000"/>
              </a:solidFill>
              <a:prstDash val="solid"/>
              <a:miter/>
            </a:ln>
          </p:spPr>
        </p:sp>
        <p:sp>
          <p:nvSpPr>
            <p:cNvPr name="TextBox 20" id="20"/>
            <p:cNvSpPr txBox="true"/>
            <p:nvPr/>
          </p:nvSpPr>
          <p:spPr>
            <a:xfrm>
              <a:off x="0" y="-38100"/>
              <a:ext cx="1312593" cy="211308"/>
            </a:xfrm>
            <a:prstGeom prst="rect">
              <a:avLst/>
            </a:prstGeom>
          </p:spPr>
          <p:txBody>
            <a:bodyPr anchor="ctr" rtlCol="false" tIns="50800" lIns="50800" bIns="50800" rIns="50800"/>
            <a:lstStyle/>
            <a:p>
              <a:pPr algn="ctr">
                <a:lnSpc>
                  <a:spcPts val="2329"/>
                </a:lnSpc>
              </a:pPr>
            </a:p>
          </p:txBody>
        </p:sp>
      </p:grpSp>
      <p:sp>
        <p:nvSpPr>
          <p:cNvPr name="TextBox 21" id="21"/>
          <p:cNvSpPr txBox="true"/>
          <p:nvPr/>
        </p:nvSpPr>
        <p:spPr>
          <a:xfrm rot="0">
            <a:off x="12036175" y="3414789"/>
            <a:ext cx="1003102" cy="412089"/>
          </a:xfrm>
          <a:prstGeom prst="rect">
            <a:avLst/>
          </a:prstGeom>
        </p:spPr>
        <p:txBody>
          <a:bodyPr anchor="t" rtlCol="false" tIns="0" lIns="0" bIns="0" rIns="0">
            <a:spAutoFit/>
          </a:bodyPr>
          <a:lstStyle/>
          <a:p>
            <a:pPr algn="ctr">
              <a:lnSpc>
                <a:spcPts val="3481"/>
              </a:lnSpc>
              <a:spcBef>
                <a:spcPct val="0"/>
              </a:spcBef>
            </a:pPr>
            <a:r>
              <a:rPr lang="en-US" b="true" sz="2417">
                <a:solidFill>
                  <a:srgbClr val="06656B"/>
                </a:solidFill>
                <a:latin typeface="Open Sans 1 Bold"/>
                <a:ea typeface="Open Sans 1 Bold"/>
                <a:cs typeface="Open Sans 1 Bold"/>
                <a:sym typeface="Open Sans 1 Bold"/>
              </a:rPr>
              <a:t>Admin</a:t>
            </a:r>
          </a:p>
        </p:txBody>
      </p:sp>
      <p:sp>
        <p:nvSpPr>
          <p:cNvPr name="TextBox 22" id="22"/>
          <p:cNvSpPr txBox="true"/>
          <p:nvPr/>
        </p:nvSpPr>
        <p:spPr>
          <a:xfrm rot="0">
            <a:off x="10059962" y="4228885"/>
            <a:ext cx="5325659" cy="4010456"/>
          </a:xfrm>
          <a:prstGeom prst="rect">
            <a:avLst/>
          </a:prstGeom>
        </p:spPr>
        <p:txBody>
          <a:bodyPr anchor="t" rtlCol="false" tIns="0" lIns="0" bIns="0" rIns="0">
            <a:spAutoFit/>
          </a:bodyPr>
          <a:lstStyle/>
          <a:p>
            <a:pPr algn="l" marL="536697" indent="-268349" lvl="1">
              <a:lnSpc>
                <a:spcPts val="3579"/>
              </a:lnSpc>
              <a:buFont typeface="Arial"/>
              <a:buChar char="•"/>
            </a:pPr>
            <a:r>
              <a:rPr lang="en-US" sz="2485">
                <a:solidFill>
                  <a:srgbClr val="000000"/>
                </a:solidFill>
                <a:latin typeface="Open Sans 1"/>
                <a:ea typeface="Open Sans 1"/>
                <a:cs typeface="Open Sans 1"/>
                <a:sym typeface="Open Sans 1"/>
              </a:rPr>
              <a:t> Menambah, edit, dan menghapus data kos</a:t>
            </a:r>
          </a:p>
          <a:p>
            <a:pPr algn="l" marL="536697" indent="-268349" lvl="1">
              <a:lnSpc>
                <a:spcPts val="3579"/>
              </a:lnSpc>
              <a:buFont typeface="Arial"/>
              <a:buChar char="•"/>
            </a:pPr>
            <a:r>
              <a:rPr lang="en-US" sz="2485">
                <a:solidFill>
                  <a:srgbClr val="000000"/>
                </a:solidFill>
                <a:latin typeface="Open Sans 1"/>
                <a:ea typeface="Open Sans 1"/>
                <a:cs typeface="Open Sans 1"/>
                <a:sym typeface="Open Sans 1"/>
              </a:rPr>
              <a:t>Menambahkan, edit, dan hapus detail foto kos</a:t>
            </a:r>
          </a:p>
          <a:p>
            <a:pPr algn="l" marL="536697" indent="-268349" lvl="1">
              <a:lnSpc>
                <a:spcPts val="3579"/>
              </a:lnSpc>
              <a:buFont typeface="Arial"/>
              <a:buChar char="•"/>
            </a:pPr>
            <a:r>
              <a:rPr lang="en-US" sz="2485">
                <a:solidFill>
                  <a:srgbClr val="000000"/>
                </a:solidFill>
                <a:latin typeface="Open Sans 1"/>
                <a:ea typeface="Open Sans 1"/>
                <a:cs typeface="Open Sans 1"/>
                <a:sym typeface="Open Sans 1"/>
              </a:rPr>
              <a:t>Mengelola parameter filter (harga, fasilitas, jarak ke kampus)</a:t>
            </a:r>
          </a:p>
          <a:p>
            <a:pPr algn="l" marL="536697" indent="-268349" lvl="1">
              <a:lnSpc>
                <a:spcPts val="3579"/>
              </a:lnSpc>
              <a:buFont typeface="Arial"/>
              <a:buChar char="•"/>
            </a:pPr>
            <a:r>
              <a:rPr lang="en-US" sz="2485">
                <a:solidFill>
                  <a:srgbClr val="000000"/>
                </a:solidFill>
                <a:latin typeface="Open Sans 1"/>
                <a:ea typeface="Open Sans 1"/>
                <a:cs typeface="Open Sans 1"/>
                <a:sym typeface="Open Sans 1"/>
              </a:rPr>
              <a:t>Mengelola dan memverifikasi akun pengguna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74" r="0" b="-74"/>
              </a:stretch>
            </a:blipFill>
          </p:spPr>
        </p:sp>
      </p:grpSp>
      <p:grpSp>
        <p:nvGrpSpPr>
          <p:cNvPr name="Group 4" id="4"/>
          <p:cNvGrpSpPr/>
          <p:nvPr/>
        </p:nvGrpSpPr>
        <p:grpSpPr>
          <a:xfrm rot="0">
            <a:off x="15977448" y="736370"/>
            <a:ext cx="770855" cy="1031245"/>
            <a:chOff x="0" y="0"/>
            <a:chExt cx="1027807" cy="1374993"/>
          </a:xfrm>
        </p:grpSpPr>
        <p:sp>
          <p:nvSpPr>
            <p:cNvPr name="Freeform 5" id="5"/>
            <p:cNvSpPr/>
            <p:nvPr/>
          </p:nvSpPr>
          <p:spPr>
            <a:xfrm flipH="false" flipV="false" rot="0">
              <a:off x="0" y="0"/>
              <a:ext cx="1027811" cy="1375029"/>
            </a:xfrm>
            <a:custGeom>
              <a:avLst/>
              <a:gdLst/>
              <a:ahLst/>
              <a:cxnLst/>
              <a:rect r="r" b="b" t="t" l="l"/>
              <a:pathLst>
                <a:path h="1375029" w="1027811">
                  <a:moveTo>
                    <a:pt x="0" y="0"/>
                  </a:moveTo>
                  <a:lnTo>
                    <a:pt x="1027811" y="0"/>
                  </a:lnTo>
                  <a:lnTo>
                    <a:pt x="1027811" y="1375029"/>
                  </a:lnTo>
                  <a:lnTo>
                    <a:pt x="0" y="1375029"/>
                  </a:lnTo>
                  <a:lnTo>
                    <a:pt x="0" y="0"/>
                  </a:lnTo>
                  <a:close/>
                </a:path>
              </a:pathLst>
            </a:custGeom>
            <a:blipFill>
              <a:blip r:embed="rId3"/>
              <a:stretch>
                <a:fillRect l="0" t="0" r="0" b="2"/>
              </a:stretch>
            </a:blipFill>
          </p:spPr>
        </p:sp>
      </p:grpSp>
      <p:graphicFrame>
        <p:nvGraphicFramePr>
          <p:cNvPr name="Object 6" id="6"/>
          <p:cNvGraphicFramePr/>
          <p:nvPr/>
        </p:nvGraphicFramePr>
        <p:xfrm>
          <a:off x="3851938" y="2250743"/>
          <a:ext cx="16230600" cy="5410200"/>
        </p:xfrm>
        <a:graphic>
          <a:graphicData uri="http://schemas.openxmlformats.org/presentationml/2006/ole">
            <p:oleObj imgW="19469100" imgH="86487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7" id="7"/>
          <p:cNvSpPr txBox="true"/>
          <p:nvPr/>
        </p:nvSpPr>
        <p:spPr>
          <a:xfrm rot="0">
            <a:off x="1028700" y="895350"/>
            <a:ext cx="16230600" cy="1045845"/>
          </a:xfrm>
          <a:prstGeom prst="rect">
            <a:avLst/>
          </a:prstGeom>
        </p:spPr>
        <p:txBody>
          <a:bodyPr anchor="t" rtlCol="false" tIns="0" lIns="0" bIns="0" rIns="0">
            <a:spAutoFit/>
          </a:bodyPr>
          <a:lstStyle/>
          <a:p>
            <a:pPr algn="ctr">
              <a:lnSpc>
                <a:spcPts val="8640"/>
              </a:lnSpc>
              <a:spcBef>
                <a:spcPct val="0"/>
              </a:spcBef>
            </a:pPr>
            <a:r>
              <a:rPr lang="en-US" b="true" sz="6000">
                <a:solidFill>
                  <a:srgbClr val="EF7F1D"/>
                </a:solidFill>
                <a:latin typeface="Open Sans 1 Bold"/>
                <a:ea typeface="Open Sans 1 Bold"/>
                <a:cs typeface="Open Sans 1 Bold"/>
                <a:sym typeface="Open Sans 1 Bold"/>
              </a:rPr>
              <a:t>TIMELINE PEKERJAAN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74" r="0" b="-74"/>
              </a:stretch>
            </a:blipFill>
          </p:spPr>
        </p:sp>
      </p:grpSp>
      <p:grpSp>
        <p:nvGrpSpPr>
          <p:cNvPr name="Group 4" id="4"/>
          <p:cNvGrpSpPr/>
          <p:nvPr/>
        </p:nvGrpSpPr>
        <p:grpSpPr>
          <a:xfrm rot="0">
            <a:off x="15977448" y="736370"/>
            <a:ext cx="770855" cy="1031245"/>
            <a:chOff x="0" y="0"/>
            <a:chExt cx="1027807" cy="1374993"/>
          </a:xfrm>
        </p:grpSpPr>
        <p:sp>
          <p:nvSpPr>
            <p:cNvPr name="Freeform 5" id="5"/>
            <p:cNvSpPr/>
            <p:nvPr/>
          </p:nvSpPr>
          <p:spPr>
            <a:xfrm flipH="false" flipV="false" rot="0">
              <a:off x="0" y="0"/>
              <a:ext cx="1027811" cy="1375029"/>
            </a:xfrm>
            <a:custGeom>
              <a:avLst/>
              <a:gdLst/>
              <a:ahLst/>
              <a:cxnLst/>
              <a:rect r="r" b="b" t="t" l="l"/>
              <a:pathLst>
                <a:path h="1375029" w="1027811">
                  <a:moveTo>
                    <a:pt x="0" y="0"/>
                  </a:moveTo>
                  <a:lnTo>
                    <a:pt x="1027811" y="0"/>
                  </a:lnTo>
                  <a:lnTo>
                    <a:pt x="1027811" y="1375029"/>
                  </a:lnTo>
                  <a:lnTo>
                    <a:pt x="0" y="1375029"/>
                  </a:lnTo>
                  <a:lnTo>
                    <a:pt x="0" y="0"/>
                  </a:lnTo>
                  <a:close/>
                </a:path>
              </a:pathLst>
            </a:custGeom>
            <a:blipFill>
              <a:blip r:embed="rId3"/>
              <a:stretch>
                <a:fillRect l="0" t="0" r="0" b="2"/>
              </a:stretch>
            </a:blipFill>
          </p:spPr>
        </p:sp>
      </p:grpSp>
      <p:sp>
        <p:nvSpPr>
          <p:cNvPr name="TextBox 6" id="6"/>
          <p:cNvSpPr txBox="true"/>
          <p:nvPr/>
        </p:nvSpPr>
        <p:spPr>
          <a:xfrm rot="0">
            <a:off x="1028700" y="895350"/>
            <a:ext cx="16230600" cy="1045845"/>
          </a:xfrm>
          <a:prstGeom prst="rect">
            <a:avLst/>
          </a:prstGeom>
        </p:spPr>
        <p:txBody>
          <a:bodyPr anchor="t" rtlCol="false" tIns="0" lIns="0" bIns="0" rIns="0">
            <a:spAutoFit/>
          </a:bodyPr>
          <a:lstStyle/>
          <a:p>
            <a:pPr algn="ctr">
              <a:lnSpc>
                <a:spcPts val="8640"/>
              </a:lnSpc>
              <a:spcBef>
                <a:spcPct val="0"/>
              </a:spcBef>
            </a:pPr>
            <a:r>
              <a:rPr lang="en-US" b="true" sz="6000">
                <a:solidFill>
                  <a:srgbClr val="EF7F1D"/>
                </a:solidFill>
                <a:latin typeface="Open Sans 1 Bold"/>
                <a:ea typeface="Open Sans 1 Bold"/>
                <a:cs typeface="Open Sans 1 Bold"/>
                <a:sym typeface="Open Sans 1 Bold"/>
              </a:rPr>
              <a:t>MANAJEMEN TIM</a:t>
            </a:r>
          </a:p>
        </p:txBody>
      </p:sp>
      <p:grpSp>
        <p:nvGrpSpPr>
          <p:cNvPr name="Group 7" id="7"/>
          <p:cNvGrpSpPr/>
          <p:nvPr/>
        </p:nvGrpSpPr>
        <p:grpSpPr>
          <a:xfrm rot="0">
            <a:off x="2686570" y="2505002"/>
            <a:ext cx="3977824" cy="6066375"/>
            <a:chOff x="0" y="0"/>
            <a:chExt cx="1047657" cy="1597728"/>
          </a:xfrm>
        </p:grpSpPr>
        <p:sp>
          <p:nvSpPr>
            <p:cNvPr name="Freeform 8" id="8"/>
            <p:cNvSpPr/>
            <p:nvPr/>
          </p:nvSpPr>
          <p:spPr>
            <a:xfrm flipH="false" flipV="false" rot="0">
              <a:off x="0" y="0"/>
              <a:ext cx="1047657" cy="1597728"/>
            </a:xfrm>
            <a:custGeom>
              <a:avLst/>
              <a:gdLst/>
              <a:ahLst/>
              <a:cxnLst/>
              <a:rect r="r" b="b" t="t" l="l"/>
              <a:pathLst>
                <a:path h="1597728" w="1047657">
                  <a:moveTo>
                    <a:pt x="38925" y="0"/>
                  </a:moveTo>
                  <a:lnTo>
                    <a:pt x="1008732" y="0"/>
                  </a:lnTo>
                  <a:cubicBezTo>
                    <a:pt x="1019056" y="0"/>
                    <a:pt x="1028956" y="4101"/>
                    <a:pt x="1036256" y="11401"/>
                  </a:cubicBezTo>
                  <a:cubicBezTo>
                    <a:pt x="1043556" y="18701"/>
                    <a:pt x="1047657" y="28602"/>
                    <a:pt x="1047657" y="38925"/>
                  </a:cubicBezTo>
                  <a:lnTo>
                    <a:pt x="1047657" y="1558803"/>
                  </a:lnTo>
                  <a:cubicBezTo>
                    <a:pt x="1047657" y="1569127"/>
                    <a:pt x="1043556" y="1579027"/>
                    <a:pt x="1036256" y="1586327"/>
                  </a:cubicBezTo>
                  <a:cubicBezTo>
                    <a:pt x="1028956" y="1593627"/>
                    <a:pt x="1019056" y="1597728"/>
                    <a:pt x="1008732" y="1597728"/>
                  </a:cubicBezTo>
                  <a:lnTo>
                    <a:pt x="38925" y="1597728"/>
                  </a:lnTo>
                  <a:cubicBezTo>
                    <a:pt x="28602" y="1597728"/>
                    <a:pt x="18701" y="1593627"/>
                    <a:pt x="11401" y="1586327"/>
                  </a:cubicBezTo>
                  <a:cubicBezTo>
                    <a:pt x="4101" y="1579027"/>
                    <a:pt x="0" y="1569127"/>
                    <a:pt x="0" y="1558803"/>
                  </a:cubicBezTo>
                  <a:lnTo>
                    <a:pt x="0" y="38925"/>
                  </a:lnTo>
                  <a:cubicBezTo>
                    <a:pt x="0" y="28602"/>
                    <a:pt x="4101" y="18701"/>
                    <a:pt x="11401" y="11401"/>
                  </a:cubicBezTo>
                  <a:cubicBezTo>
                    <a:pt x="18701" y="4101"/>
                    <a:pt x="28602" y="0"/>
                    <a:pt x="38925" y="0"/>
                  </a:cubicBezTo>
                  <a:close/>
                </a:path>
              </a:pathLst>
            </a:custGeom>
            <a:ln w="38100" cap="sq">
              <a:solidFill>
                <a:srgbClr val="AEB1B5"/>
              </a:solidFill>
              <a:prstDash val="solid"/>
              <a:miter/>
            </a:ln>
          </p:spPr>
        </p:sp>
        <p:sp>
          <p:nvSpPr>
            <p:cNvPr name="TextBox 9" id="9"/>
            <p:cNvSpPr txBox="true"/>
            <p:nvPr/>
          </p:nvSpPr>
          <p:spPr>
            <a:xfrm>
              <a:off x="0" y="-38100"/>
              <a:ext cx="1047657" cy="1635828"/>
            </a:xfrm>
            <a:prstGeom prst="rect">
              <a:avLst/>
            </a:prstGeom>
          </p:spPr>
          <p:txBody>
            <a:bodyPr anchor="ctr" rtlCol="false" tIns="50800" lIns="50800" bIns="50800" rIns="50800"/>
            <a:lstStyle/>
            <a:p>
              <a:pPr algn="ctr">
                <a:lnSpc>
                  <a:spcPts val="2329"/>
                </a:lnSpc>
              </a:pPr>
            </a:p>
          </p:txBody>
        </p:sp>
      </p:grpSp>
      <p:grpSp>
        <p:nvGrpSpPr>
          <p:cNvPr name="Group 10" id="10"/>
          <p:cNvGrpSpPr/>
          <p:nvPr/>
        </p:nvGrpSpPr>
        <p:grpSpPr>
          <a:xfrm rot="0">
            <a:off x="2908748" y="2732378"/>
            <a:ext cx="3444504" cy="781127"/>
            <a:chOff x="0" y="0"/>
            <a:chExt cx="907194" cy="205729"/>
          </a:xfrm>
        </p:grpSpPr>
        <p:sp>
          <p:nvSpPr>
            <p:cNvPr name="Freeform 11" id="11"/>
            <p:cNvSpPr/>
            <p:nvPr/>
          </p:nvSpPr>
          <p:spPr>
            <a:xfrm flipH="false" flipV="false" rot="0">
              <a:off x="0" y="0"/>
              <a:ext cx="907194" cy="205729"/>
            </a:xfrm>
            <a:custGeom>
              <a:avLst/>
              <a:gdLst/>
              <a:ahLst/>
              <a:cxnLst/>
              <a:rect r="r" b="b" t="t" l="l"/>
              <a:pathLst>
                <a:path h="205729" w="907194">
                  <a:moveTo>
                    <a:pt x="44952" y="0"/>
                  </a:moveTo>
                  <a:lnTo>
                    <a:pt x="862242" y="0"/>
                  </a:lnTo>
                  <a:cubicBezTo>
                    <a:pt x="887069" y="0"/>
                    <a:pt x="907194" y="20126"/>
                    <a:pt x="907194" y="44952"/>
                  </a:cubicBezTo>
                  <a:lnTo>
                    <a:pt x="907194" y="160777"/>
                  </a:lnTo>
                  <a:cubicBezTo>
                    <a:pt x="907194" y="185603"/>
                    <a:pt x="887069" y="205729"/>
                    <a:pt x="862242" y="205729"/>
                  </a:cubicBezTo>
                  <a:lnTo>
                    <a:pt x="44952" y="205729"/>
                  </a:lnTo>
                  <a:cubicBezTo>
                    <a:pt x="20126" y="205729"/>
                    <a:pt x="0" y="185603"/>
                    <a:pt x="0" y="160777"/>
                  </a:cubicBezTo>
                  <a:lnTo>
                    <a:pt x="0" y="44952"/>
                  </a:lnTo>
                  <a:cubicBezTo>
                    <a:pt x="0" y="20126"/>
                    <a:pt x="20126" y="0"/>
                    <a:pt x="44952" y="0"/>
                  </a:cubicBezTo>
                  <a:close/>
                </a:path>
              </a:pathLst>
            </a:custGeom>
            <a:solidFill>
              <a:srgbClr val="FFFFFF"/>
            </a:solidFill>
            <a:ln w="19050" cap="sq">
              <a:solidFill>
                <a:srgbClr val="000000"/>
              </a:solidFill>
              <a:prstDash val="solid"/>
              <a:miter/>
            </a:ln>
          </p:spPr>
        </p:sp>
        <p:sp>
          <p:nvSpPr>
            <p:cNvPr name="TextBox 12" id="12"/>
            <p:cNvSpPr txBox="true"/>
            <p:nvPr/>
          </p:nvSpPr>
          <p:spPr>
            <a:xfrm>
              <a:off x="0" y="-38100"/>
              <a:ext cx="907194" cy="243829"/>
            </a:xfrm>
            <a:prstGeom prst="rect">
              <a:avLst/>
            </a:prstGeom>
          </p:spPr>
          <p:txBody>
            <a:bodyPr anchor="ctr" rtlCol="false" tIns="50800" lIns="50800" bIns="50800" rIns="50800"/>
            <a:lstStyle/>
            <a:p>
              <a:pPr algn="ctr">
                <a:lnSpc>
                  <a:spcPts val="2329"/>
                </a:lnSpc>
              </a:pPr>
            </a:p>
          </p:txBody>
        </p:sp>
      </p:grpSp>
      <p:sp>
        <p:nvSpPr>
          <p:cNvPr name="TextBox 13" id="13"/>
          <p:cNvSpPr txBox="true"/>
          <p:nvPr/>
        </p:nvSpPr>
        <p:spPr>
          <a:xfrm rot="0">
            <a:off x="3027979" y="2817756"/>
            <a:ext cx="3206041" cy="579347"/>
          </a:xfrm>
          <a:prstGeom prst="rect">
            <a:avLst/>
          </a:prstGeom>
        </p:spPr>
        <p:txBody>
          <a:bodyPr anchor="t" rtlCol="false" tIns="0" lIns="0" bIns="0" rIns="0">
            <a:spAutoFit/>
          </a:bodyPr>
          <a:lstStyle/>
          <a:p>
            <a:pPr algn="ctr">
              <a:lnSpc>
                <a:spcPts val="2329"/>
              </a:lnSpc>
              <a:spcBef>
                <a:spcPct val="0"/>
              </a:spcBef>
            </a:pPr>
            <a:r>
              <a:rPr lang="en-US" b="true" sz="1617">
                <a:solidFill>
                  <a:srgbClr val="06656B"/>
                </a:solidFill>
                <a:latin typeface="Open Sans 1 Bold"/>
                <a:ea typeface="Open Sans 1 Bold"/>
                <a:cs typeface="Open Sans 1 Bold"/>
                <a:sym typeface="Open Sans 1 Bold"/>
              </a:rPr>
              <a:t>GIS Developer &amp; Backend Engineer</a:t>
            </a:r>
          </a:p>
        </p:txBody>
      </p:sp>
      <p:sp>
        <p:nvSpPr>
          <p:cNvPr name="TextBox 14" id="14"/>
          <p:cNvSpPr txBox="true"/>
          <p:nvPr/>
        </p:nvSpPr>
        <p:spPr>
          <a:xfrm rot="0">
            <a:off x="2995667" y="3684037"/>
            <a:ext cx="3357584" cy="3606165"/>
          </a:xfrm>
          <a:prstGeom prst="rect">
            <a:avLst/>
          </a:prstGeom>
        </p:spPr>
        <p:txBody>
          <a:bodyPr anchor="t" rtlCol="false" tIns="0" lIns="0" bIns="0" rIns="0">
            <a:spAutoFit/>
          </a:bodyPr>
          <a:lstStyle/>
          <a:p>
            <a:pPr algn="l" marL="431801" indent="-215900" lvl="1">
              <a:lnSpc>
                <a:spcPts val="2880"/>
              </a:lnSpc>
              <a:buFont typeface="Arial"/>
              <a:buChar char="•"/>
            </a:pPr>
            <a:r>
              <a:rPr lang="en-US" sz="2000">
                <a:solidFill>
                  <a:srgbClr val="000000"/>
                </a:solidFill>
                <a:latin typeface="Open Sans 1"/>
                <a:ea typeface="Open Sans 1"/>
                <a:cs typeface="Open Sans 1"/>
                <a:sym typeface="Open Sans 1"/>
              </a:rPr>
              <a:t>Mendesain arsitektur Web GIS</a:t>
            </a:r>
          </a:p>
          <a:p>
            <a:pPr algn="l" marL="431801" indent="-215900" lvl="1">
              <a:lnSpc>
                <a:spcPts val="2880"/>
              </a:lnSpc>
              <a:buFont typeface="Arial"/>
              <a:buChar char="•"/>
            </a:pPr>
            <a:r>
              <a:rPr lang="en-US" sz="2000">
                <a:solidFill>
                  <a:srgbClr val="000000"/>
                </a:solidFill>
                <a:latin typeface="Open Sans 1"/>
                <a:ea typeface="Open Sans 1"/>
                <a:cs typeface="Open Sans 1"/>
                <a:sym typeface="Open Sans 1"/>
              </a:rPr>
              <a:t>Mengelola database hunian mahasiswa</a:t>
            </a:r>
          </a:p>
          <a:p>
            <a:pPr algn="l" marL="431801" indent="-215900" lvl="1">
              <a:lnSpc>
                <a:spcPts val="2880"/>
              </a:lnSpc>
              <a:buFont typeface="Arial"/>
              <a:buChar char="•"/>
            </a:pPr>
            <a:r>
              <a:rPr lang="en-US" sz="2000">
                <a:solidFill>
                  <a:srgbClr val="000000"/>
                </a:solidFill>
                <a:latin typeface="Open Sans 1"/>
                <a:ea typeface="Open Sans 1"/>
                <a:cs typeface="Open Sans 1"/>
                <a:sym typeface="Open Sans 1"/>
              </a:rPr>
              <a:t>Membuat layanan query lokasi (misalnya: filter kos berdasarkan harga/jarak)</a:t>
            </a:r>
          </a:p>
          <a:p>
            <a:pPr algn="l" marL="431801" indent="-215900" lvl="1">
              <a:lnSpc>
                <a:spcPts val="2880"/>
              </a:lnSpc>
              <a:buFont typeface="Arial"/>
              <a:buChar char="•"/>
            </a:pPr>
            <a:r>
              <a:rPr lang="en-US" sz="2000">
                <a:solidFill>
                  <a:srgbClr val="000000"/>
                </a:solidFill>
                <a:latin typeface="Open Sans 1"/>
                <a:ea typeface="Open Sans 1"/>
                <a:cs typeface="Open Sans 1"/>
                <a:sym typeface="Open Sans 1"/>
              </a:rPr>
              <a:t>Integrasi data spasial ke dalam sistem web</a:t>
            </a:r>
          </a:p>
        </p:txBody>
      </p:sp>
      <p:grpSp>
        <p:nvGrpSpPr>
          <p:cNvPr name="Group 15" id="15"/>
          <p:cNvGrpSpPr/>
          <p:nvPr/>
        </p:nvGrpSpPr>
        <p:grpSpPr>
          <a:xfrm rot="0">
            <a:off x="7302843" y="2732378"/>
            <a:ext cx="3444504" cy="781127"/>
            <a:chOff x="0" y="0"/>
            <a:chExt cx="907194" cy="205729"/>
          </a:xfrm>
        </p:grpSpPr>
        <p:sp>
          <p:nvSpPr>
            <p:cNvPr name="Freeform 16" id="16"/>
            <p:cNvSpPr/>
            <p:nvPr/>
          </p:nvSpPr>
          <p:spPr>
            <a:xfrm flipH="false" flipV="false" rot="0">
              <a:off x="0" y="0"/>
              <a:ext cx="907194" cy="205729"/>
            </a:xfrm>
            <a:custGeom>
              <a:avLst/>
              <a:gdLst/>
              <a:ahLst/>
              <a:cxnLst/>
              <a:rect r="r" b="b" t="t" l="l"/>
              <a:pathLst>
                <a:path h="205729" w="907194">
                  <a:moveTo>
                    <a:pt x="44952" y="0"/>
                  </a:moveTo>
                  <a:lnTo>
                    <a:pt x="862242" y="0"/>
                  </a:lnTo>
                  <a:cubicBezTo>
                    <a:pt x="887069" y="0"/>
                    <a:pt x="907194" y="20126"/>
                    <a:pt x="907194" y="44952"/>
                  </a:cubicBezTo>
                  <a:lnTo>
                    <a:pt x="907194" y="160777"/>
                  </a:lnTo>
                  <a:cubicBezTo>
                    <a:pt x="907194" y="185603"/>
                    <a:pt x="887069" y="205729"/>
                    <a:pt x="862242" y="205729"/>
                  </a:cubicBezTo>
                  <a:lnTo>
                    <a:pt x="44952" y="205729"/>
                  </a:lnTo>
                  <a:cubicBezTo>
                    <a:pt x="20126" y="205729"/>
                    <a:pt x="0" y="185603"/>
                    <a:pt x="0" y="160777"/>
                  </a:cubicBezTo>
                  <a:lnTo>
                    <a:pt x="0" y="44952"/>
                  </a:lnTo>
                  <a:cubicBezTo>
                    <a:pt x="0" y="20126"/>
                    <a:pt x="20126" y="0"/>
                    <a:pt x="44952" y="0"/>
                  </a:cubicBezTo>
                  <a:close/>
                </a:path>
              </a:pathLst>
            </a:custGeom>
            <a:solidFill>
              <a:srgbClr val="FFFFFF"/>
            </a:solidFill>
            <a:ln w="19050" cap="sq">
              <a:solidFill>
                <a:srgbClr val="000000"/>
              </a:solidFill>
              <a:prstDash val="solid"/>
              <a:miter/>
            </a:ln>
          </p:spPr>
        </p:sp>
        <p:sp>
          <p:nvSpPr>
            <p:cNvPr name="TextBox 17" id="17"/>
            <p:cNvSpPr txBox="true"/>
            <p:nvPr/>
          </p:nvSpPr>
          <p:spPr>
            <a:xfrm>
              <a:off x="0" y="-38100"/>
              <a:ext cx="907194" cy="243829"/>
            </a:xfrm>
            <a:prstGeom prst="rect">
              <a:avLst/>
            </a:prstGeom>
          </p:spPr>
          <p:txBody>
            <a:bodyPr anchor="ctr" rtlCol="false" tIns="50800" lIns="50800" bIns="50800" rIns="50800"/>
            <a:lstStyle/>
            <a:p>
              <a:pPr algn="ctr">
                <a:lnSpc>
                  <a:spcPts val="2329"/>
                </a:lnSpc>
              </a:pPr>
            </a:p>
          </p:txBody>
        </p:sp>
      </p:grpSp>
      <p:sp>
        <p:nvSpPr>
          <p:cNvPr name="TextBox 18" id="18"/>
          <p:cNvSpPr txBox="true"/>
          <p:nvPr/>
        </p:nvSpPr>
        <p:spPr>
          <a:xfrm rot="0">
            <a:off x="7422074" y="2817756"/>
            <a:ext cx="3206041" cy="579347"/>
          </a:xfrm>
          <a:prstGeom prst="rect">
            <a:avLst/>
          </a:prstGeom>
        </p:spPr>
        <p:txBody>
          <a:bodyPr anchor="t" rtlCol="false" tIns="0" lIns="0" bIns="0" rIns="0">
            <a:spAutoFit/>
          </a:bodyPr>
          <a:lstStyle/>
          <a:p>
            <a:pPr algn="ctr">
              <a:lnSpc>
                <a:spcPts val="2329"/>
              </a:lnSpc>
              <a:spcBef>
                <a:spcPct val="0"/>
              </a:spcBef>
            </a:pPr>
            <a:r>
              <a:rPr lang="en-US" b="true" sz="1617">
                <a:solidFill>
                  <a:srgbClr val="06656B"/>
                </a:solidFill>
                <a:latin typeface="Open Sans 1 Bold"/>
                <a:ea typeface="Open Sans 1 Bold"/>
                <a:cs typeface="Open Sans 1 Bold"/>
                <a:sym typeface="Open Sans 1 Bold"/>
              </a:rPr>
              <a:t>GIS Developer &amp; Backend Engineer</a:t>
            </a:r>
          </a:p>
        </p:txBody>
      </p:sp>
      <p:grpSp>
        <p:nvGrpSpPr>
          <p:cNvPr name="Group 19" id="19"/>
          <p:cNvGrpSpPr/>
          <p:nvPr/>
        </p:nvGrpSpPr>
        <p:grpSpPr>
          <a:xfrm rot="0">
            <a:off x="7036183" y="2505002"/>
            <a:ext cx="3977824" cy="6066375"/>
            <a:chOff x="0" y="0"/>
            <a:chExt cx="1047657" cy="1597728"/>
          </a:xfrm>
        </p:grpSpPr>
        <p:sp>
          <p:nvSpPr>
            <p:cNvPr name="Freeform 20" id="20"/>
            <p:cNvSpPr/>
            <p:nvPr/>
          </p:nvSpPr>
          <p:spPr>
            <a:xfrm flipH="false" flipV="false" rot="0">
              <a:off x="0" y="0"/>
              <a:ext cx="1047657" cy="1597728"/>
            </a:xfrm>
            <a:custGeom>
              <a:avLst/>
              <a:gdLst/>
              <a:ahLst/>
              <a:cxnLst/>
              <a:rect r="r" b="b" t="t" l="l"/>
              <a:pathLst>
                <a:path h="1597728" w="1047657">
                  <a:moveTo>
                    <a:pt x="38925" y="0"/>
                  </a:moveTo>
                  <a:lnTo>
                    <a:pt x="1008732" y="0"/>
                  </a:lnTo>
                  <a:cubicBezTo>
                    <a:pt x="1019056" y="0"/>
                    <a:pt x="1028956" y="4101"/>
                    <a:pt x="1036256" y="11401"/>
                  </a:cubicBezTo>
                  <a:cubicBezTo>
                    <a:pt x="1043556" y="18701"/>
                    <a:pt x="1047657" y="28602"/>
                    <a:pt x="1047657" y="38925"/>
                  </a:cubicBezTo>
                  <a:lnTo>
                    <a:pt x="1047657" y="1558803"/>
                  </a:lnTo>
                  <a:cubicBezTo>
                    <a:pt x="1047657" y="1569127"/>
                    <a:pt x="1043556" y="1579027"/>
                    <a:pt x="1036256" y="1586327"/>
                  </a:cubicBezTo>
                  <a:cubicBezTo>
                    <a:pt x="1028956" y="1593627"/>
                    <a:pt x="1019056" y="1597728"/>
                    <a:pt x="1008732" y="1597728"/>
                  </a:cubicBezTo>
                  <a:lnTo>
                    <a:pt x="38925" y="1597728"/>
                  </a:lnTo>
                  <a:cubicBezTo>
                    <a:pt x="28602" y="1597728"/>
                    <a:pt x="18701" y="1593627"/>
                    <a:pt x="11401" y="1586327"/>
                  </a:cubicBezTo>
                  <a:cubicBezTo>
                    <a:pt x="4101" y="1579027"/>
                    <a:pt x="0" y="1569127"/>
                    <a:pt x="0" y="1558803"/>
                  </a:cubicBezTo>
                  <a:lnTo>
                    <a:pt x="0" y="38925"/>
                  </a:lnTo>
                  <a:cubicBezTo>
                    <a:pt x="0" y="28602"/>
                    <a:pt x="4101" y="18701"/>
                    <a:pt x="11401" y="11401"/>
                  </a:cubicBezTo>
                  <a:cubicBezTo>
                    <a:pt x="18701" y="4101"/>
                    <a:pt x="28602" y="0"/>
                    <a:pt x="38925" y="0"/>
                  </a:cubicBezTo>
                  <a:close/>
                </a:path>
              </a:pathLst>
            </a:custGeom>
            <a:ln w="38100" cap="sq">
              <a:solidFill>
                <a:srgbClr val="AEB1B5"/>
              </a:solidFill>
              <a:prstDash val="solid"/>
              <a:miter/>
            </a:ln>
          </p:spPr>
        </p:sp>
        <p:sp>
          <p:nvSpPr>
            <p:cNvPr name="TextBox 21" id="21"/>
            <p:cNvSpPr txBox="true"/>
            <p:nvPr/>
          </p:nvSpPr>
          <p:spPr>
            <a:xfrm>
              <a:off x="0" y="-38100"/>
              <a:ext cx="1047657" cy="1635828"/>
            </a:xfrm>
            <a:prstGeom prst="rect">
              <a:avLst/>
            </a:prstGeom>
          </p:spPr>
          <p:txBody>
            <a:bodyPr anchor="ctr" rtlCol="false" tIns="50800" lIns="50800" bIns="50800" rIns="50800"/>
            <a:lstStyle/>
            <a:p>
              <a:pPr algn="ctr">
                <a:lnSpc>
                  <a:spcPts val="2329"/>
                </a:lnSpc>
              </a:pPr>
            </a:p>
          </p:txBody>
        </p:sp>
      </p:grpSp>
      <p:sp>
        <p:nvSpPr>
          <p:cNvPr name="TextBox 22" id="22"/>
          <p:cNvSpPr txBox="true"/>
          <p:nvPr/>
        </p:nvSpPr>
        <p:spPr>
          <a:xfrm rot="0">
            <a:off x="7270531" y="3684037"/>
            <a:ext cx="3357584" cy="3244215"/>
          </a:xfrm>
          <a:prstGeom prst="rect">
            <a:avLst/>
          </a:prstGeom>
        </p:spPr>
        <p:txBody>
          <a:bodyPr anchor="t" rtlCol="false" tIns="0" lIns="0" bIns="0" rIns="0">
            <a:spAutoFit/>
          </a:bodyPr>
          <a:lstStyle/>
          <a:p>
            <a:pPr algn="l" marL="431801" indent="-215900" lvl="1">
              <a:lnSpc>
                <a:spcPts val="2880"/>
              </a:lnSpc>
              <a:buFont typeface="Arial"/>
              <a:buChar char="•"/>
            </a:pPr>
            <a:r>
              <a:rPr lang="en-US" sz="2000">
                <a:solidFill>
                  <a:srgbClr val="000000"/>
                </a:solidFill>
                <a:latin typeface="Open Sans 1"/>
                <a:ea typeface="Open Sans 1"/>
                <a:cs typeface="Open Sans 1"/>
                <a:sym typeface="Open Sans 1"/>
              </a:rPr>
              <a:t>Membuat tampilan peta interaktif</a:t>
            </a:r>
          </a:p>
          <a:p>
            <a:pPr algn="l" marL="431801" indent="-215900" lvl="1">
              <a:lnSpc>
                <a:spcPts val="2880"/>
              </a:lnSpc>
              <a:buFont typeface="Arial"/>
              <a:buChar char="•"/>
            </a:pPr>
            <a:r>
              <a:rPr lang="en-US" sz="2000">
                <a:solidFill>
                  <a:srgbClr val="000000"/>
                </a:solidFill>
                <a:latin typeface="Open Sans 1"/>
                <a:ea typeface="Open Sans 1"/>
                <a:cs typeface="Open Sans 1"/>
                <a:sym typeface="Open Sans 1"/>
              </a:rPr>
              <a:t>Mendesain fitur pencarian kos (filter harga, lokasi, fasilitas)</a:t>
            </a:r>
          </a:p>
          <a:p>
            <a:pPr algn="l" marL="431801" indent="-215900" lvl="1">
              <a:lnSpc>
                <a:spcPts val="2880"/>
              </a:lnSpc>
              <a:buFont typeface="Arial"/>
              <a:buChar char="•"/>
            </a:pPr>
            <a:r>
              <a:rPr lang="en-US" sz="2000">
                <a:solidFill>
                  <a:srgbClr val="000000"/>
                </a:solidFill>
                <a:latin typeface="Open Sans 1"/>
                <a:ea typeface="Open Sans 1"/>
                <a:cs typeface="Open Sans 1"/>
                <a:sym typeface="Open Sans 1"/>
              </a:rPr>
              <a:t>Menampilkan marker lokasi kos pada peta</a:t>
            </a:r>
          </a:p>
          <a:p>
            <a:pPr algn="l" marL="431801" indent="-215900" lvl="1">
              <a:lnSpc>
                <a:spcPts val="2880"/>
              </a:lnSpc>
              <a:buFont typeface="Arial"/>
              <a:buChar char="•"/>
            </a:pPr>
            <a:r>
              <a:rPr lang="en-US" sz="2000">
                <a:solidFill>
                  <a:srgbClr val="000000"/>
                </a:solidFill>
                <a:latin typeface="Open Sans 1"/>
                <a:ea typeface="Open Sans 1"/>
                <a:cs typeface="Open Sans 1"/>
                <a:sym typeface="Open Sans 1"/>
              </a:rPr>
              <a:t>Optimasi tampilan untuk mobile &amp; desktop</a:t>
            </a:r>
          </a:p>
        </p:txBody>
      </p:sp>
      <p:grpSp>
        <p:nvGrpSpPr>
          <p:cNvPr name="Group 23" id="23"/>
          <p:cNvGrpSpPr/>
          <p:nvPr/>
        </p:nvGrpSpPr>
        <p:grpSpPr>
          <a:xfrm rot="0">
            <a:off x="11890267" y="2732378"/>
            <a:ext cx="3444504" cy="781127"/>
            <a:chOff x="0" y="0"/>
            <a:chExt cx="907194" cy="205729"/>
          </a:xfrm>
        </p:grpSpPr>
        <p:sp>
          <p:nvSpPr>
            <p:cNvPr name="Freeform 24" id="24"/>
            <p:cNvSpPr/>
            <p:nvPr/>
          </p:nvSpPr>
          <p:spPr>
            <a:xfrm flipH="false" flipV="false" rot="0">
              <a:off x="0" y="0"/>
              <a:ext cx="907194" cy="205729"/>
            </a:xfrm>
            <a:custGeom>
              <a:avLst/>
              <a:gdLst/>
              <a:ahLst/>
              <a:cxnLst/>
              <a:rect r="r" b="b" t="t" l="l"/>
              <a:pathLst>
                <a:path h="205729" w="907194">
                  <a:moveTo>
                    <a:pt x="44952" y="0"/>
                  </a:moveTo>
                  <a:lnTo>
                    <a:pt x="862242" y="0"/>
                  </a:lnTo>
                  <a:cubicBezTo>
                    <a:pt x="887069" y="0"/>
                    <a:pt x="907194" y="20126"/>
                    <a:pt x="907194" y="44952"/>
                  </a:cubicBezTo>
                  <a:lnTo>
                    <a:pt x="907194" y="160777"/>
                  </a:lnTo>
                  <a:cubicBezTo>
                    <a:pt x="907194" y="185603"/>
                    <a:pt x="887069" y="205729"/>
                    <a:pt x="862242" y="205729"/>
                  </a:cubicBezTo>
                  <a:lnTo>
                    <a:pt x="44952" y="205729"/>
                  </a:lnTo>
                  <a:cubicBezTo>
                    <a:pt x="20126" y="205729"/>
                    <a:pt x="0" y="185603"/>
                    <a:pt x="0" y="160777"/>
                  </a:cubicBezTo>
                  <a:lnTo>
                    <a:pt x="0" y="44952"/>
                  </a:lnTo>
                  <a:cubicBezTo>
                    <a:pt x="0" y="20126"/>
                    <a:pt x="20126" y="0"/>
                    <a:pt x="44952" y="0"/>
                  </a:cubicBezTo>
                  <a:close/>
                </a:path>
              </a:pathLst>
            </a:custGeom>
            <a:solidFill>
              <a:srgbClr val="FFFFFF"/>
            </a:solidFill>
            <a:ln w="19050" cap="sq">
              <a:solidFill>
                <a:srgbClr val="000000"/>
              </a:solidFill>
              <a:prstDash val="solid"/>
              <a:miter/>
            </a:ln>
          </p:spPr>
        </p:sp>
        <p:sp>
          <p:nvSpPr>
            <p:cNvPr name="TextBox 25" id="25"/>
            <p:cNvSpPr txBox="true"/>
            <p:nvPr/>
          </p:nvSpPr>
          <p:spPr>
            <a:xfrm>
              <a:off x="0" y="-38100"/>
              <a:ext cx="907194" cy="243829"/>
            </a:xfrm>
            <a:prstGeom prst="rect">
              <a:avLst/>
            </a:prstGeom>
          </p:spPr>
          <p:txBody>
            <a:bodyPr anchor="ctr" rtlCol="false" tIns="50800" lIns="50800" bIns="50800" rIns="50800"/>
            <a:lstStyle/>
            <a:p>
              <a:pPr algn="ctr">
                <a:lnSpc>
                  <a:spcPts val="2329"/>
                </a:lnSpc>
              </a:pPr>
            </a:p>
          </p:txBody>
        </p:sp>
      </p:grpSp>
      <p:grpSp>
        <p:nvGrpSpPr>
          <p:cNvPr name="Group 26" id="26"/>
          <p:cNvGrpSpPr/>
          <p:nvPr/>
        </p:nvGrpSpPr>
        <p:grpSpPr>
          <a:xfrm rot="0">
            <a:off x="11623607" y="2505002"/>
            <a:ext cx="3977824" cy="6066375"/>
            <a:chOff x="0" y="0"/>
            <a:chExt cx="1047657" cy="1597728"/>
          </a:xfrm>
        </p:grpSpPr>
        <p:sp>
          <p:nvSpPr>
            <p:cNvPr name="Freeform 27" id="27"/>
            <p:cNvSpPr/>
            <p:nvPr/>
          </p:nvSpPr>
          <p:spPr>
            <a:xfrm flipH="false" flipV="false" rot="0">
              <a:off x="0" y="0"/>
              <a:ext cx="1047657" cy="1597728"/>
            </a:xfrm>
            <a:custGeom>
              <a:avLst/>
              <a:gdLst/>
              <a:ahLst/>
              <a:cxnLst/>
              <a:rect r="r" b="b" t="t" l="l"/>
              <a:pathLst>
                <a:path h="1597728" w="1047657">
                  <a:moveTo>
                    <a:pt x="38925" y="0"/>
                  </a:moveTo>
                  <a:lnTo>
                    <a:pt x="1008732" y="0"/>
                  </a:lnTo>
                  <a:cubicBezTo>
                    <a:pt x="1019056" y="0"/>
                    <a:pt x="1028956" y="4101"/>
                    <a:pt x="1036256" y="11401"/>
                  </a:cubicBezTo>
                  <a:cubicBezTo>
                    <a:pt x="1043556" y="18701"/>
                    <a:pt x="1047657" y="28602"/>
                    <a:pt x="1047657" y="38925"/>
                  </a:cubicBezTo>
                  <a:lnTo>
                    <a:pt x="1047657" y="1558803"/>
                  </a:lnTo>
                  <a:cubicBezTo>
                    <a:pt x="1047657" y="1569127"/>
                    <a:pt x="1043556" y="1579027"/>
                    <a:pt x="1036256" y="1586327"/>
                  </a:cubicBezTo>
                  <a:cubicBezTo>
                    <a:pt x="1028956" y="1593627"/>
                    <a:pt x="1019056" y="1597728"/>
                    <a:pt x="1008732" y="1597728"/>
                  </a:cubicBezTo>
                  <a:lnTo>
                    <a:pt x="38925" y="1597728"/>
                  </a:lnTo>
                  <a:cubicBezTo>
                    <a:pt x="28602" y="1597728"/>
                    <a:pt x="18701" y="1593627"/>
                    <a:pt x="11401" y="1586327"/>
                  </a:cubicBezTo>
                  <a:cubicBezTo>
                    <a:pt x="4101" y="1579027"/>
                    <a:pt x="0" y="1569127"/>
                    <a:pt x="0" y="1558803"/>
                  </a:cubicBezTo>
                  <a:lnTo>
                    <a:pt x="0" y="38925"/>
                  </a:lnTo>
                  <a:cubicBezTo>
                    <a:pt x="0" y="28602"/>
                    <a:pt x="4101" y="18701"/>
                    <a:pt x="11401" y="11401"/>
                  </a:cubicBezTo>
                  <a:cubicBezTo>
                    <a:pt x="18701" y="4101"/>
                    <a:pt x="28602" y="0"/>
                    <a:pt x="38925" y="0"/>
                  </a:cubicBezTo>
                  <a:close/>
                </a:path>
              </a:pathLst>
            </a:custGeom>
            <a:ln w="38100" cap="sq">
              <a:solidFill>
                <a:srgbClr val="AEB1B5"/>
              </a:solidFill>
              <a:prstDash val="solid"/>
              <a:miter/>
            </a:ln>
          </p:spPr>
        </p:sp>
        <p:sp>
          <p:nvSpPr>
            <p:cNvPr name="TextBox 28" id="28"/>
            <p:cNvSpPr txBox="true"/>
            <p:nvPr/>
          </p:nvSpPr>
          <p:spPr>
            <a:xfrm>
              <a:off x="0" y="-38100"/>
              <a:ext cx="1047657" cy="1635828"/>
            </a:xfrm>
            <a:prstGeom prst="rect">
              <a:avLst/>
            </a:prstGeom>
          </p:spPr>
          <p:txBody>
            <a:bodyPr anchor="ctr" rtlCol="false" tIns="50800" lIns="50800" bIns="50800" rIns="50800"/>
            <a:lstStyle/>
            <a:p>
              <a:pPr algn="ctr">
                <a:lnSpc>
                  <a:spcPts val="2329"/>
                </a:lnSpc>
              </a:pPr>
            </a:p>
          </p:txBody>
        </p:sp>
      </p:grpSp>
      <p:sp>
        <p:nvSpPr>
          <p:cNvPr name="TextBox 29" id="29"/>
          <p:cNvSpPr txBox="true"/>
          <p:nvPr/>
        </p:nvSpPr>
        <p:spPr>
          <a:xfrm rot="0">
            <a:off x="12009498" y="2965394"/>
            <a:ext cx="3206041" cy="284072"/>
          </a:xfrm>
          <a:prstGeom prst="rect">
            <a:avLst/>
          </a:prstGeom>
        </p:spPr>
        <p:txBody>
          <a:bodyPr anchor="t" rtlCol="false" tIns="0" lIns="0" bIns="0" rIns="0">
            <a:spAutoFit/>
          </a:bodyPr>
          <a:lstStyle/>
          <a:p>
            <a:pPr algn="ctr">
              <a:lnSpc>
                <a:spcPts val="2329"/>
              </a:lnSpc>
              <a:spcBef>
                <a:spcPct val="0"/>
              </a:spcBef>
            </a:pPr>
            <a:r>
              <a:rPr lang="en-US" b="true" sz="1617">
                <a:solidFill>
                  <a:srgbClr val="06656B"/>
                </a:solidFill>
                <a:latin typeface="Open Sans 1 Bold"/>
                <a:ea typeface="Open Sans 1 Bold"/>
                <a:cs typeface="Open Sans 1 Bold"/>
                <a:sym typeface="Open Sans 1 Bold"/>
              </a:rPr>
              <a:t>GIS Analyst &amp; Project Manager</a:t>
            </a:r>
          </a:p>
        </p:txBody>
      </p:sp>
      <p:sp>
        <p:nvSpPr>
          <p:cNvPr name="TextBox 30" id="30"/>
          <p:cNvSpPr txBox="true"/>
          <p:nvPr/>
        </p:nvSpPr>
        <p:spPr>
          <a:xfrm rot="0">
            <a:off x="11857955" y="3684037"/>
            <a:ext cx="3357584" cy="4692015"/>
          </a:xfrm>
          <a:prstGeom prst="rect">
            <a:avLst/>
          </a:prstGeom>
        </p:spPr>
        <p:txBody>
          <a:bodyPr anchor="t" rtlCol="false" tIns="0" lIns="0" bIns="0" rIns="0">
            <a:spAutoFit/>
          </a:bodyPr>
          <a:lstStyle/>
          <a:p>
            <a:pPr algn="l" marL="431801" indent="-215900" lvl="1">
              <a:lnSpc>
                <a:spcPts val="2880"/>
              </a:lnSpc>
              <a:buFont typeface="Arial"/>
              <a:buChar char="•"/>
            </a:pPr>
            <a:r>
              <a:rPr lang="en-US" sz="2000">
                <a:solidFill>
                  <a:srgbClr val="000000"/>
                </a:solidFill>
                <a:latin typeface="Open Sans 1"/>
                <a:ea typeface="Open Sans 1"/>
                <a:cs typeface="Open Sans 1"/>
                <a:sym typeface="Open Sans 1"/>
              </a:rPr>
              <a:t>Mengumpulkan dan validasi data kos mahasiswa</a:t>
            </a:r>
          </a:p>
          <a:p>
            <a:pPr algn="l" marL="431801" indent="-215900" lvl="1">
              <a:lnSpc>
                <a:spcPts val="2880"/>
              </a:lnSpc>
              <a:buFont typeface="Arial"/>
              <a:buChar char="•"/>
            </a:pPr>
            <a:r>
              <a:rPr lang="en-US" sz="2000">
                <a:solidFill>
                  <a:srgbClr val="000000"/>
                </a:solidFill>
                <a:latin typeface="Open Sans 1"/>
                <a:ea typeface="Open Sans 1"/>
                <a:cs typeface="Open Sans 1"/>
                <a:sym typeface="Open Sans 1"/>
              </a:rPr>
              <a:t>Analisis persebaran hunian (cluster, density, dll.)</a:t>
            </a:r>
          </a:p>
          <a:p>
            <a:pPr algn="l" marL="431801" indent="-215900" lvl="1">
              <a:lnSpc>
                <a:spcPts val="2880"/>
              </a:lnSpc>
              <a:buFont typeface="Arial"/>
              <a:buChar char="•"/>
            </a:pPr>
            <a:r>
              <a:rPr lang="en-US" sz="2000">
                <a:solidFill>
                  <a:srgbClr val="000000"/>
                </a:solidFill>
                <a:latin typeface="Open Sans 1"/>
                <a:ea typeface="Open Sans 1"/>
                <a:cs typeface="Open Sans 1"/>
                <a:sym typeface="Open Sans 1"/>
              </a:rPr>
              <a:t>Menentukan kebutuhan sistem</a:t>
            </a:r>
          </a:p>
          <a:p>
            <a:pPr algn="l" marL="431801" indent="-215900" lvl="1">
              <a:lnSpc>
                <a:spcPts val="2880"/>
              </a:lnSpc>
              <a:buFont typeface="Arial"/>
              <a:buChar char="•"/>
            </a:pPr>
            <a:r>
              <a:rPr lang="en-US" sz="2000">
                <a:solidFill>
                  <a:srgbClr val="000000"/>
                </a:solidFill>
                <a:latin typeface="Open Sans 1"/>
                <a:ea typeface="Open Sans 1"/>
                <a:cs typeface="Open Sans 1"/>
                <a:sym typeface="Open Sans 1"/>
              </a:rPr>
              <a:t>Membagi tugas dan timeline proyek</a:t>
            </a:r>
          </a:p>
          <a:p>
            <a:pPr algn="l" marL="431801" indent="-215900" lvl="1">
              <a:lnSpc>
                <a:spcPts val="2880"/>
              </a:lnSpc>
              <a:buFont typeface="Arial"/>
              <a:buChar char="•"/>
            </a:pPr>
            <a:r>
              <a:rPr lang="en-US" sz="2000">
                <a:solidFill>
                  <a:srgbClr val="000000"/>
                </a:solidFill>
                <a:latin typeface="Open Sans 1"/>
                <a:ea typeface="Open Sans 1"/>
                <a:cs typeface="Open Sans 1"/>
                <a:sym typeface="Open Sans 1"/>
              </a:rPr>
              <a:t>Dokumentasi dan presentasi (termasuk PPT)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74" r="0" b="-74"/>
              </a:stretch>
            </a:blipFill>
          </p:spPr>
        </p:sp>
      </p:grpSp>
      <p:grpSp>
        <p:nvGrpSpPr>
          <p:cNvPr name="Group 4" id="4"/>
          <p:cNvGrpSpPr/>
          <p:nvPr/>
        </p:nvGrpSpPr>
        <p:grpSpPr>
          <a:xfrm rot="0">
            <a:off x="15977448" y="736370"/>
            <a:ext cx="770855" cy="1031245"/>
            <a:chOff x="0" y="0"/>
            <a:chExt cx="1027807" cy="1374993"/>
          </a:xfrm>
        </p:grpSpPr>
        <p:sp>
          <p:nvSpPr>
            <p:cNvPr name="Freeform 5" id="5"/>
            <p:cNvSpPr/>
            <p:nvPr/>
          </p:nvSpPr>
          <p:spPr>
            <a:xfrm flipH="false" flipV="false" rot="0">
              <a:off x="0" y="0"/>
              <a:ext cx="1027811" cy="1375029"/>
            </a:xfrm>
            <a:custGeom>
              <a:avLst/>
              <a:gdLst/>
              <a:ahLst/>
              <a:cxnLst/>
              <a:rect r="r" b="b" t="t" l="l"/>
              <a:pathLst>
                <a:path h="1375029" w="1027811">
                  <a:moveTo>
                    <a:pt x="0" y="0"/>
                  </a:moveTo>
                  <a:lnTo>
                    <a:pt x="1027811" y="0"/>
                  </a:lnTo>
                  <a:lnTo>
                    <a:pt x="1027811" y="1375029"/>
                  </a:lnTo>
                  <a:lnTo>
                    <a:pt x="0" y="1375029"/>
                  </a:lnTo>
                  <a:lnTo>
                    <a:pt x="0" y="0"/>
                  </a:lnTo>
                  <a:close/>
                </a:path>
              </a:pathLst>
            </a:custGeom>
            <a:blipFill>
              <a:blip r:embed="rId3"/>
              <a:stretch>
                <a:fillRect l="0" t="0" r="0" b="2"/>
              </a:stretch>
            </a:blipFill>
          </p:spPr>
        </p:sp>
      </p:grpSp>
      <p:sp>
        <p:nvSpPr>
          <p:cNvPr name="TextBox 6" id="6"/>
          <p:cNvSpPr txBox="true"/>
          <p:nvPr/>
        </p:nvSpPr>
        <p:spPr>
          <a:xfrm rot="0">
            <a:off x="1028700" y="1178017"/>
            <a:ext cx="16230600" cy="1045845"/>
          </a:xfrm>
          <a:prstGeom prst="rect">
            <a:avLst/>
          </a:prstGeom>
        </p:spPr>
        <p:txBody>
          <a:bodyPr anchor="t" rtlCol="false" tIns="0" lIns="0" bIns="0" rIns="0">
            <a:spAutoFit/>
          </a:bodyPr>
          <a:lstStyle/>
          <a:p>
            <a:pPr algn="ctr">
              <a:lnSpc>
                <a:spcPts val="8640"/>
              </a:lnSpc>
              <a:spcBef>
                <a:spcPct val="0"/>
              </a:spcBef>
            </a:pPr>
            <a:r>
              <a:rPr lang="en-US" b="true" sz="6000">
                <a:solidFill>
                  <a:srgbClr val="EF7F1D"/>
                </a:solidFill>
                <a:latin typeface="Open Sans 1 Bold"/>
                <a:ea typeface="Open Sans 1 Bold"/>
                <a:cs typeface="Open Sans 1 Bold"/>
                <a:sym typeface="Open Sans 1 Bold"/>
              </a:rPr>
              <a:t>KESIMPULAN</a:t>
            </a:r>
          </a:p>
        </p:txBody>
      </p:sp>
      <p:sp>
        <p:nvSpPr>
          <p:cNvPr name="TextBox 7" id="7"/>
          <p:cNvSpPr txBox="true"/>
          <p:nvPr/>
        </p:nvSpPr>
        <p:spPr>
          <a:xfrm rot="0">
            <a:off x="1152050" y="2671045"/>
            <a:ext cx="16269571" cy="4562047"/>
          </a:xfrm>
          <a:prstGeom prst="rect">
            <a:avLst/>
          </a:prstGeom>
        </p:spPr>
        <p:txBody>
          <a:bodyPr anchor="t" rtlCol="false" tIns="0" lIns="0" bIns="0" rIns="0">
            <a:spAutoFit/>
          </a:bodyPr>
          <a:lstStyle/>
          <a:p>
            <a:pPr algn="l">
              <a:lnSpc>
                <a:spcPts val="3620"/>
              </a:lnSpc>
              <a:spcBef>
                <a:spcPct val="0"/>
              </a:spcBef>
            </a:pPr>
            <a:r>
              <a:rPr lang="en-US" sz="2514">
                <a:solidFill>
                  <a:srgbClr val="000000"/>
                </a:solidFill>
                <a:latin typeface="Open Sans 1"/>
                <a:ea typeface="Open Sans 1"/>
                <a:cs typeface="Open Sans 1"/>
                <a:sym typeface="Open Sans 1"/>
              </a:rPr>
              <a:t>KosFinder merupakan inovasi berbasis WebGIS yang dirancang untuk membantu mahasiswa mencari hunian secara lebih efektif, efisien, dan informatif. Sistem ini hadir untuk menjawab permasalahan pencarian kost yang masih tersebar di berbagai platform, sehingga informasi yang dibutuhkan sering kali tidak terstruktur dan menyulitkan pengguna dalam menentukan pilihan. Melalui pemanfaatan Sistem Informasi Geografis (SIG), KosFinder mampu menampilkan persebaran hunian mahasiswa secara visual, interaktif, dan berbasis lokasi.</a:t>
            </a:r>
          </a:p>
          <a:p>
            <a:pPr algn="l">
              <a:lnSpc>
                <a:spcPts val="3620"/>
              </a:lnSpc>
              <a:spcBef>
                <a:spcPct val="0"/>
              </a:spcBef>
            </a:pPr>
            <a:r>
              <a:rPr lang="en-US" sz="2514">
                <a:solidFill>
                  <a:srgbClr val="000000"/>
                </a:solidFill>
                <a:latin typeface="Open Sans 1"/>
                <a:ea typeface="Open Sans 1"/>
                <a:cs typeface="Open Sans 1"/>
                <a:sym typeface="Open Sans 1"/>
              </a:rPr>
              <a:t>Selain itu, integrasi data spasial dengan data atribut seperti harga sewa, fasilitas, jenis kost, jam malam, dan jarak ke kampus membuat proses pencarian menjadi lebih terarah sesuai kebutuhan dan preferensi pengguna. Fitur filtering yang tersedia juga membantu pengguna dalam mengambil keputusan secara lebih cepat, tepat, dan relevan.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74" r="0" b="-74"/>
              </a:stretch>
            </a:blipFill>
          </p:spPr>
        </p:sp>
      </p:grpSp>
      <p:grpSp>
        <p:nvGrpSpPr>
          <p:cNvPr name="Group 4" id="4"/>
          <p:cNvGrpSpPr/>
          <p:nvPr/>
        </p:nvGrpSpPr>
        <p:grpSpPr>
          <a:xfrm rot="0">
            <a:off x="6512919" y="810017"/>
            <a:ext cx="3636346" cy="780536"/>
            <a:chOff x="0" y="0"/>
            <a:chExt cx="5973037" cy="1282103"/>
          </a:xfrm>
        </p:grpSpPr>
        <p:sp>
          <p:nvSpPr>
            <p:cNvPr name="Freeform 5" id="5"/>
            <p:cNvSpPr/>
            <p:nvPr/>
          </p:nvSpPr>
          <p:spPr>
            <a:xfrm flipH="false" flipV="false" rot="0">
              <a:off x="0" y="0"/>
              <a:ext cx="5973064" cy="1282065"/>
            </a:xfrm>
            <a:custGeom>
              <a:avLst/>
              <a:gdLst/>
              <a:ahLst/>
              <a:cxnLst/>
              <a:rect r="r" b="b" t="t" l="l"/>
              <a:pathLst>
                <a:path h="1282065" w="5973064">
                  <a:moveTo>
                    <a:pt x="0" y="0"/>
                  </a:moveTo>
                  <a:lnTo>
                    <a:pt x="5973064" y="0"/>
                  </a:lnTo>
                  <a:lnTo>
                    <a:pt x="5973064" y="1282065"/>
                  </a:lnTo>
                  <a:lnTo>
                    <a:pt x="0" y="1282065"/>
                  </a:lnTo>
                  <a:lnTo>
                    <a:pt x="0" y="0"/>
                  </a:lnTo>
                  <a:close/>
                </a:path>
              </a:pathLst>
            </a:custGeom>
            <a:blipFill>
              <a:blip r:embed="rId3"/>
              <a:stretch>
                <a:fillRect l="-36" t="0" r="-35" b="-2"/>
              </a:stretch>
            </a:blipFill>
          </p:spPr>
        </p:sp>
      </p:grpSp>
      <p:grpSp>
        <p:nvGrpSpPr>
          <p:cNvPr name="Group 6" id="6"/>
          <p:cNvGrpSpPr/>
          <p:nvPr/>
        </p:nvGrpSpPr>
        <p:grpSpPr>
          <a:xfrm rot="0">
            <a:off x="5592912" y="776286"/>
            <a:ext cx="608664" cy="814267"/>
            <a:chOff x="0" y="0"/>
            <a:chExt cx="1027807" cy="1374993"/>
          </a:xfrm>
        </p:grpSpPr>
        <p:sp>
          <p:nvSpPr>
            <p:cNvPr name="Freeform 7" id="7"/>
            <p:cNvSpPr/>
            <p:nvPr/>
          </p:nvSpPr>
          <p:spPr>
            <a:xfrm flipH="false" flipV="false" rot="0">
              <a:off x="0" y="0"/>
              <a:ext cx="1027811" cy="1375029"/>
            </a:xfrm>
            <a:custGeom>
              <a:avLst/>
              <a:gdLst/>
              <a:ahLst/>
              <a:cxnLst/>
              <a:rect r="r" b="b" t="t" l="l"/>
              <a:pathLst>
                <a:path h="1375029" w="1027811">
                  <a:moveTo>
                    <a:pt x="0" y="0"/>
                  </a:moveTo>
                  <a:lnTo>
                    <a:pt x="1027811" y="0"/>
                  </a:lnTo>
                  <a:lnTo>
                    <a:pt x="1027811" y="1375029"/>
                  </a:lnTo>
                  <a:lnTo>
                    <a:pt x="0" y="1375029"/>
                  </a:lnTo>
                  <a:lnTo>
                    <a:pt x="0" y="0"/>
                  </a:lnTo>
                  <a:close/>
                </a:path>
              </a:pathLst>
            </a:custGeom>
            <a:blipFill>
              <a:blip r:embed="rId4"/>
              <a:stretch>
                <a:fillRect l="0" t="0" r="0" b="2"/>
              </a:stretch>
            </a:blipFill>
          </p:spPr>
        </p:sp>
      </p:grpSp>
      <p:sp>
        <p:nvSpPr>
          <p:cNvPr name="TextBox 8" id="8"/>
          <p:cNvSpPr txBox="true"/>
          <p:nvPr/>
        </p:nvSpPr>
        <p:spPr>
          <a:xfrm rot="0">
            <a:off x="2983426" y="652461"/>
            <a:ext cx="2609486" cy="913827"/>
          </a:xfrm>
          <a:prstGeom prst="rect">
            <a:avLst/>
          </a:prstGeom>
        </p:spPr>
        <p:txBody>
          <a:bodyPr anchor="t" rtlCol="false" tIns="0" lIns="0" bIns="0" rIns="0">
            <a:spAutoFit/>
          </a:bodyPr>
          <a:lstStyle/>
          <a:p>
            <a:pPr algn="l">
              <a:lnSpc>
                <a:spcPts val="7515"/>
              </a:lnSpc>
            </a:pPr>
            <a:r>
              <a:rPr lang="en-US" b="true" sz="5219">
                <a:solidFill>
                  <a:srgbClr val="EF7F1D"/>
                </a:solidFill>
                <a:latin typeface="Open Sans 1 Bold"/>
                <a:ea typeface="Open Sans 1 Bold"/>
                <a:cs typeface="Open Sans 1 Bold"/>
                <a:sym typeface="Open Sans 1 Bold"/>
              </a:rPr>
              <a:t>HELLO, </a:t>
            </a:r>
          </a:p>
        </p:txBody>
      </p:sp>
      <p:sp>
        <p:nvSpPr>
          <p:cNvPr name="TextBox 9" id="9"/>
          <p:cNvSpPr txBox="true"/>
          <p:nvPr/>
        </p:nvSpPr>
        <p:spPr>
          <a:xfrm rot="0">
            <a:off x="7976367" y="4296749"/>
            <a:ext cx="9282933" cy="1493478"/>
          </a:xfrm>
          <a:prstGeom prst="rect">
            <a:avLst/>
          </a:prstGeom>
        </p:spPr>
        <p:txBody>
          <a:bodyPr anchor="t" rtlCol="false" tIns="0" lIns="0" bIns="0" rIns="0">
            <a:spAutoFit/>
          </a:bodyPr>
          <a:lstStyle/>
          <a:p>
            <a:pPr algn="ctr">
              <a:lnSpc>
                <a:spcPts val="12239"/>
              </a:lnSpc>
            </a:pPr>
            <a:r>
              <a:rPr lang="en-US" b="true" sz="8499">
                <a:solidFill>
                  <a:srgbClr val="EF7F1D"/>
                </a:solidFill>
                <a:latin typeface="Open Sans 1 Bold"/>
                <a:ea typeface="Open Sans 1 Bold"/>
                <a:cs typeface="Open Sans 1 Bold"/>
                <a:sym typeface="Open Sans 1 Bold"/>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DAHHLWm7EIE</dc:identifier>
  <dcterms:modified xsi:type="dcterms:W3CDTF">2011-08-01T06:04:30Z</dcterms:modified>
  <cp:revision>1</cp:revision>
  <dc:title>GM-A_Kelompok1_KosFinder</dc:title>
</cp:coreProperties>
</file>